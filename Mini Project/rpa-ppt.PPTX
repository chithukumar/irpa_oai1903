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tags/tag2.xml" ContentType="application/vnd.openxmlformats-officedocument.presentationml.tags+xml"/>
  <Override PartName="/ppt/notesSlides/notesSlide2.xml" ContentType="application/vnd.openxmlformats-officedocument.presentationml.notesSlide+xml"/>
  <Override PartName="/ppt/tags/tag3.xml" ContentType="application/vnd.openxmlformats-officedocument.presentationml.tags+xml"/>
  <Override PartName="/ppt/notesSlides/notesSlide3.xml" ContentType="application/vnd.openxmlformats-officedocument.presentationml.notesSlide+xml"/>
  <Override PartName="/ppt/tags/tag4.xml" ContentType="application/vnd.openxmlformats-officedocument.presentationml.tags+xml"/>
  <Override PartName="/ppt/notesSlides/notesSlide4.xml" ContentType="application/vnd.openxmlformats-officedocument.presentationml.notesSlide+xml"/>
  <Override PartName="/ppt/tags/tag5.xml" ContentType="application/vnd.openxmlformats-officedocument.presentationml.tags+xml"/>
  <Override PartName="/ppt/notesSlides/notesSlide5.xml" ContentType="application/vnd.openxmlformats-officedocument.presentationml.notesSlide+xml"/>
  <Override PartName="/ppt/tags/tag6.xml" ContentType="application/vnd.openxmlformats-officedocument.presentationml.tags+xml"/>
  <Override PartName="/ppt/notesSlides/notesSlide6.xml" ContentType="application/vnd.openxmlformats-officedocument.presentationml.notesSlide+xml"/>
  <Override PartName="/ppt/tags/tag7.xml" ContentType="application/vnd.openxmlformats-officedocument.presentationml.tags+xml"/>
  <Override PartName="/ppt/notesSlides/notesSlide7.xml" ContentType="application/vnd.openxmlformats-officedocument.presentationml.notesSlide+xml"/>
  <Override PartName="/ppt/tags/tag8.xml" ContentType="application/vnd.openxmlformats-officedocument.presentationml.tags+xml"/>
  <Override PartName="/ppt/notesSlides/notesSlide8.xml" ContentType="application/vnd.openxmlformats-officedocument.presentationml.notesSlide+xml"/>
  <Override PartName="/ppt/tags/tag9.xml" ContentType="application/vnd.openxmlformats-officedocument.presentationml.tags+xml"/>
  <Override PartName="/ppt/notesSlides/notesSlide9.xml" ContentType="application/vnd.openxmlformats-officedocument.presentationml.notesSlide+xml"/>
  <Override PartName="/ppt/tags/tag10.xml" ContentType="application/vnd.openxmlformats-officedocument.presentationml.tags+xml"/>
  <Override PartName="/ppt/notesSlides/notesSlide10.xml" ContentType="application/vnd.openxmlformats-officedocument.presentationml.notesSlide+xml"/>
  <Override PartName="/ppt/tags/tag11.xml" ContentType="application/vnd.openxmlformats-officedocument.presentationml.tags+xml"/>
  <Override PartName="/ppt/notesSlides/notesSlide11.xml" ContentType="application/vnd.openxmlformats-officedocument.presentationml.notesSlide+xml"/>
  <Override PartName="/ppt/tags/tag12.xml" ContentType="application/vnd.openxmlformats-officedocument.presentationml.tags+xml"/>
  <Override PartName="/ppt/notesSlides/notesSlide12.xml" ContentType="application/vnd.openxmlformats-officedocument.presentationml.notesSlide+xml"/>
  <Override PartName="/ppt/tags/tag13.xml" ContentType="application/vnd.openxmlformats-officedocument.presentationml.tags+xml"/>
  <Override PartName="/ppt/notesSlides/notesSlide13.xml" ContentType="application/vnd.openxmlformats-officedocument.presentationml.notesSlide+xml"/>
  <Override PartName="/ppt/tags/tag14.xml" ContentType="application/vnd.openxmlformats-officedocument.presentationml.tags+xml"/>
  <Override PartName="/ppt/notesSlides/notesSlide14.xml" ContentType="application/vnd.openxmlformats-officedocument.presentationml.notesSlide+xml"/>
  <Override PartName="/ppt/tags/tag15.xml" ContentType="application/vnd.openxmlformats-officedocument.presentationml.tags+xml"/>
  <Override PartName="/ppt/notesSlides/notesSlide15.xml" ContentType="application/vnd.openxmlformats-officedocument.presentationml.notesSlide+xml"/>
  <Override PartName="/ppt/tags/tag16.xml" ContentType="application/vnd.openxmlformats-officedocument.presentationml.tags+xml"/>
  <Override PartName="/ppt/notesSlides/notesSlide16.xml" ContentType="application/vnd.openxmlformats-officedocument.presentationml.notesSlide+xml"/>
  <Override PartName="/ppt/tags/tag17.xml" ContentType="application/vnd.openxmlformats-officedocument.presentationml.tags+xml"/>
  <Override PartName="/ppt/notesSlides/notesSlide17.xml" ContentType="application/vnd.openxmlformats-officedocument.presentationml.notesSlide+xml"/>
  <Override PartName="/ppt/tags/tag18.xml" ContentType="application/vnd.openxmlformats-officedocument.presentationml.tags+xml"/>
  <Override PartName="/ppt/notesSlides/notesSlide18.xml" ContentType="application/vnd.openxmlformats-officedocument.presentationml.notesSlide+xml"/>
  <Override PartName="/ppt/tags/tag19.xml" ContentType="application/vnd.openxmlformats-officedocument.presentationml.tags+xml"/>
  <Override PartName="/ppt/notesSlides/notesSlide19.xml" ContentType="application/vnd.openxmlformats-officedocument.presentationml.notesSlide+xml"/>
  <Override PartName="/ppt/tags/tag20.xml" ContentType="application/vnd.openxmlformats-officedocument.presentationml.tags+xml"/>
  <Override PartName="/ppt/notesSlides/notesSlide20.xml" ContentType="application/vnd.openxmlformats-officedocument.presentationml.notesSlide+xml"/>
  <Override PartName="/ppt/tags/tag21.xml" ContentType="application/vnd.openxmlformats-officedocument.presentationml.tags+xml"/>
  <Override PartName="/ppt/notesSlides/notesSlide21.xml" ContentType="application/vnd.openxmlformats-officedocument.presentationml.notesSlide+xml"/>
  <Override PartName="/ppt/tags/tag22.xml" ContentType="application/vnd.openxmlformats-officedocument.presentationml.tags+xml"/>
  <Override PartName="/ppt/notesSlides/notesSlide22.xml" ContentType="application/vnd.openxmlformats-officedocument.presentationml.notesSlide+xml"/>
  <Override PartName="/ppt/tags/tag23.xml" ContentType="application/vnd.openxmlformats-officedocument.presentationml.tags+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9"/>
  </p:notesMasterIdLst>
  <p:handoutMasterIdLst>
    <p:handoutMasterId r:id="rId30"/>
  </p:handoutMasterIdLst>
  <p:sldIdLst>
    <p:sldId id="280" r:id="rId2"/>
    <p:sldId id="366" r:id="rId3"/>
    <p:sldId id="380" r:id="rId4"/>
    <p:sldId id="383" r:id="rId5"/>
    <p:sldId id="384" r:id="rId6"/>
    <p:sldId id="385" r:id="rId7"/>
    <p:sldId id="386" r:id="rId8"/>
    <p:sldId id="387" r:id="rId9"/>
    <p:sldId id="388" r:id="rId10"/>
    <p:sldId id="402" r:id="rId11"/>
    <p:sldId id="401" r:id="rId12"/>
    <p:sldId id="400" r:id="rId13"/>
    <p:sldId id="389" r:id="rId14"/>
    <p:sldId id="390" r:id="rId15"/>
    <p:sldId id="403" r:id="rId16"/>
    <p:sldId id="391" r:id="rId17"/>
    <p:sldId id="407" r:id="rId18"/>
    <p:sldId id="406" r:id="rId19"/>
    <p:sldId id="404" r:id="rId20"/>
    <p:sldId id="392" r:id="rId21"/>
    <p:sldId id="408" r:id="rId22"/>
    <p:sldId id="393" r:id="rId23"/>
    <p:sldId id="394" r:id="rId24"/>
    <p:sldId id="395" r:id="rId25"/>
    <p:sldId id="397" r:id="rId26"/>
    <p:sldId id="399" r:id="rId27"/>
    <p:sldId id="281"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40524"/>
    <a:srgbClr val="008000"/>
    <a:srgbClr val="385D8A"/>
    <a:srgbClr val="34495E"/>
    <a:srgbClr val="FDFDFD"/>
    <a:srgbClr val="EAEAEA"/>
    <a:srgbClr val="F8F8F8"/>
    <a:srgbClr val="FF6702"/>
    <a:srgbClr val="D6B580"/>
    <a:srgbClr val="F8EDE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88" autoAdjust="0"/>
    <p:restoredTop sz="94364" autoAdjust="0"/>
  </p:normalViewPr>
  <p:slideViewPr>
    <p:cSldViewPr>
      <p:cViewPr varScale="1">
        <p:scale>
          <a:sx n="68" d="100"/>
          <a:sy n="68" d="100"/>
        </p:scale>
        <p:origin x="1548" y="4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notesViewPr>
    <p:cSldViewPr>
      <p:cViewPr varScale="1">
        <p:scale>
          <a:sx n="67" d="100"/>
          <a:sy n="67" d="100"/>
        </p:scale>
        <p:origin x="2748" y="60"/>
      </p:cViewPr>
      <p:guideLst/>
    </p:cSldViewPr>
  </p:notesViewPr>
  <p:gridSpacing cx="36004" cy="36004"/>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E10F5FD1-1E71-41C1-A531-EDAAD398F8D7}" type="datetimeFigureOut">
              <a:rPr lang="en-US" smtClean="0"/>
              <a:t>11/22/2024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9418C08-2D65-44A0-8D9B-1CEE7EB87A37}" type="slidenum">
              <a:rPr lang="en-US" smtClean="0"/>
              <a:t>‹#›</a:t>
            </a:fld>
            <a:endParaRPr lang="en-US"/>
          </a:p>
        </p:txBody>
      </p:sp>
    </p:spTree>
    <p:extLst>
      <p:ext uri="{BB962C8B-B14F-4D97-AF65-F5344CB8AC3E}">
        <p14:creationId xmlns:p14="http://schemas.microsoft.com/office/powerpoint/2010/main" val="101366215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DAEC9C6-1CE4-4880-838A-FB85AC35DCB4}" type="datetimeFigureOut">
              <a:rPr lang="en-US" smtClean="0"/>
              <a:pPr/>
              <a:t>11/22/2024</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F7A3D7D-4DD0-4519-9573-665089B66871}" type="slidenum">
              <a:rPr lang="en-US" smtClean="0"/>
              <a:pPr/>
              <a:t>‹#›</a:t>
            </a:fld>
            <a:endParaRPr lang="en-US"/>
          </a:p>
        </p:txBody>
      </p:sp>
    </p:spTree>
    <p:extLst>
      <p:ext uri="{BB962C8B-B14F-4D97-AF65-F5344CB8AC3E}">
        <p14:creationId xmlns:p14="http://schemas.microsoft.com/office/powerpoint/2010/main" val="16749366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a:t>
            </a:fld>
            <a:endParaRPr lang="en-US"/>
          </a:p>
        </p:txBody>
      </p:sp>
    </p:spTree>
    <p:extLst>
      <p:ext uri="{BB962C8B-B14F-4D97-AF65-F5344CB8AC3E}">
        <p14:creationId xmlns:p14="http://schemas.microsoft.com/office/powerpoint/2010/main" val="53862491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3</a:t>
            </a:fld>
            <a:endParaRPr lang="en-US"/>
          </a:p>
        </p:txBody>
      </p:sp>
    </p:spTree>
    <p:extLst>
      <p:ext uri="{BB962C8B-B14F-4D97-AF65-F5344CB8AC3E}">
        <p14:creationId xmlns:p14="http://schemas.microsoft.com/office/powerpoint/2010/main" val="78365346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4</a:t>
            </a:fld>
            <a:endParaRPr lang="en-US"/>
          </a:p>
        </p:txBody>
      </p:sp>
    </p:spTree>
    <p:extLst>
      <p:ext uri="{BB962C8B-B14F-4D97-AF65-F5344CB8AC3E}">
        <p14:creationId xmlns:p14="http://schemas.microsoft.com/office/powerpoint/2010/main" val="35136850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5</a:t>
            </a:fld>
            <a:endParaRPr lang="en-US"/>
          </a:p>
        </p:txBody>
      </p:sp>
    </p:spTree>
    <p:extLst>
      <p:ext uri="{BB962C8B-B14F-4D97-AF65-F5344CB8AC3E}">
        <p14:creationId xmlns:p14="http://schemas.microsoft.com/office/powerpoint/2010/main" val="18451487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6</a:t>
            </a:fld>
            <a:endParaRPr lang="en-US"/>
          </a:p>
        </p:txBody>
      </p:sp>
    </p:spTree>
    <p:extLst>
      <p:ext uri="{BB962C8B-B14F-4D97-AF65-F5344CB8AC3E}">
        <p14:creationId xmlns:p14="http://schemas.microsoft.com/office/powerpoint/2010/main" val="24572639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7</a:t>
            </a:fld>
            <a:endParaRPr lang="en-US"/>
          </a:p>
        </p:txBody>
      </p:sp>
    </p:spTree>
    <p:extLst>
      <p:ext uri="{BB962C8B-B14F-4D97-AF65-F5344CB8AC3E}">
        <p14:creationId xmlns:p14="http://schemas.microsoft.com/office/powerpoint/2010/main" val="15273736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8</a:t>
            </a:fld>
            <a:endParaRPr lang="en-US"/>
          </a:p>
        </p:txBody>
      </p:sp>
    </p:spTree>
    <p:extLst>
      <p:ext uri="{BB962C8B-B14F-4D97-AF65-F5344CB8AC3E}">
        <p14:creationId xmlns:p14="http://schemas.microsoft.com/office/powerpoint/2010/main" val="331762784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9</a:t>
            </a:fld>
            <a:endParaRPr lang="en-US"/>
          </a:p>
        </p:txBody>
      </p:sp>
    </p:spTree>
    <p:extLst>
      <p:ext uri="{BB962C8B-B14F-4D97-AF65-F5344CB8AC3E}">
        <p14:creationId xmlns:p14="http://schemas.microsoft.com/office/powerpoint/2010/main" val="332271959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10</a:t>
            </a:fld>
            <a:endParaRPr lang="en-US"/>
          </a:p>
        </p:txBody>
      </p:sp>
    </p:spTree>
    <p:extLst>
      <p:ext uri="{BB962C8B-B14F-4D97-AF65-F5344CB8AC3E}">
        <p14:creationId xmlns:p14="http://schemas.microsoft.com/office/powerpoint/2010/main" val="2637380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11</a:t>
            </a:fld>
            <a:endParaRPr lang="en-US"/>
          </a:p>
        </p:txBody>
      </p:sp>
    </p:spTree>
    <p:extLst>
      <p:ext uri="{BB962C8B-B14F-4D97-AF65-F5344CB8AC3E}">
        <p14:creationId xmlns:p14="http://schemas.microsoft.com/office/powerpoint/2010/main" val="320558525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12</a:t>
            </a:fld>
            <a:endParaRPr lang="en-US"/>
          </a:p>
        </p:txBody>
      </p:sp>
    </p:spTree>
    <p:extLst>
      <p:ext uri="{BB962C8B-B14F-4D97-AF65-F5344CB8AC3E}">
        <p14:creationId xmlns:p14="http://schemas.microsoft.com/office/powerpoint/2010/main" val="135677857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13</a:t>
            </a:fld>
            <a:endParaRPr lang="en-US"/>
          </a:p>
        </p:txBody>
      </p:sp>
    </p:spTree>
    <p:extLst>
      <p:ext uri="{BB962C8B-B14F-4D97-AF65-F5344CB8AC3E}">
        <p14:creationId xmlns:p14="http://schemas.microsoft.com/office/powerpoint/2010/main" val="178944354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14</a:t>
            </a:fld>
            <a:endParaRPr lang="en-US"/>
          </a:p>
        </p:txBody>
      </p:sp>
    </p:spTree>
    <p:extLst>
      <p:ext uri="{BB962C8B-B14F-4D97-AF65-F5344CB8AC3E}">
        <p14:creationId xmlns:p14="http://schemas.microsoft.com/office/powerpoint/2010/main" val="276364186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15</a:t>
            </a:fld>
            <a:endParaRPr lang="en-US"/>
          </a:p>
        </p:txBody>
      </p:sp>
    </p:spTree>
    <p:extLst>
      <p:ext uri="{BB962C8B-B14F-4D97-AF65-F5344CB8AC3E}">
        <p14:creationId xmlns:p14="http://schemas.microsoft.com/office/powerpoint/2010/main" val="303398224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16</a:t>
            </a:fld>
            <a:endParaRPr lang="en-US"/>
          </a:p>
        </p:txBody>
      </p:sp>
    </p:spTree>
    <p:extLst>
      <p:ext uri="{BB962C8B-B14F-4D97-AF65-F5344CB8AC3E}">
        <p14:creationId xmlns:p14="http://schemas.microsoft.com/office/powerpoint/2010/main" val="85802416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17</a:t>
            </a:fld>
            <a:endParaRPr lang="en-US"/>
          </a:p>
        </p:txBody>
      </p:sp>
    </p:spTree>
    <p:extLst>
      <p:ext uri="{BB962C8B-B14F-4D97-AF65-F5344CB8AC3E}">
        <p14:creationId xmlns:p14="http://schemas.microsoft.com/office/powerpoint/2010/main" val="43153147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18</a:t>
            </a:fld>
            <a:endParaRPr lang="en-US"/>
          </a:p>
        </p:txBody>
      </p:sp>
    </p:spTree>
    <p:extLst>
      <p:ext uri="{BB962C8B-B14F-4D97-AF65-F5344CB8AC3E}">
        <p14:creationId xmlns:p14="http://schemas.microsoft.com/office/powerpoint/2010/main" val="103865878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19</a:t>
            </a:fld>
            <a:endParaRPr lang="en-US"/>
          </a:p>
        </p:txBody>
      </p:sp>
    </p:spTree>
    <p:extLst>
      <p:ext uri="{BB962C8B-B14F-4D97-AF65-F5344CB8AC3E}">
        <p14:creationId xmlns:p14="http://schemas.microsoft.com/office/powerpoint/2010/main" val="124511868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20</a:t>
            </a:fld>
            <a:endParaRPr lang="en-US"/>
          </a:p>
        </p:txBody>
      </p:sp>
    </p:spTree>
    <p:extLst>
      <p:ext uri="{BB962C8B-B14F-4D97-AF65-F5344CB8AC3E}">
        <p14:creationId xmlns:p14="http://schemas.microsoft.com/office/powerpoint/2010/main" val="135093260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21</a:t>
            </a:fld>
            <a:endParaRPr lang="en-US"/>
          </a:p>
        </p:txBody>
      </p:sp>
    </p:spTree>
    <p:extLst>
      <p:ext uri="{BB962C8B-B14F-4D97-AF65-F5344CB8AC3E}">
        <p14:creationId xmlns:p14="http://schemas.microsoft.com/office/powerpoint/2010/main" val="35287533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22</a:t>
            </a:fld>
            <a:endParaRPr lang="en-US"/>
          </a:p>
        </p:txBody>
      </p:sp>
    </p:spTree>
    <p:extLst>
      <p:ext uri="{BB962C8B-B14F-4D97-AF65-F5344CB8AC3E}">
        <p14:creationId xmlns:p14="http://schemas.microsoft.com/office/powerpoint/2010/main" val="89525664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a:p>
        </p:txBody>
      </p:sp>
      <p:sp>
        <p:nvSpPr>
          <p:cNvPr id="4" name="Slide Number Placeholder 3"/>
          <p:cNvSpPr>
            <a:spLocks noGrp="1"/>
          </p:cNvSpPr>
          <p:nvPr>
            <p:ph type="sldNum" sz="quarter" idx="10"/>
          </p:nvPr>
        </p:nvSpPr>
        <p:spPr/>
        <p:txBody>
          <a:bodyPr/>
          <a:lstStyle/>
          <a:p>
            <a:fld id="{3F7A3D7D-4DD0-4519-9573-665089B66871}" type="slidenum">
              <a:rPr lang="en-US" smtClean="0"/>
              <a:pPr/>
              <a:t>23</a:t>
            </a:fld>
            <a:endParaRPr lang="en-US"/>
          </a:p>
        </p:txBody>
      </p:sp>
    </p:spTree>
    <p:extLst>
      <p:ext uri="{BB962C8B-B14F-4D97-AF65-F5344CB8AC3E}">
        <p14:creationId xmlns:p14="http://schemas.microsoft.com/office/powerpoint/2010/main" val="233110935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24</a:t>
            </a:fld>
            <a:endParaRPr lang="en-US"/>
          </a:p>
        </p:txBody>
      </p:sp>
    </p:spTree>
    <p:extLst>
      <p:ext uri="{BB962C8B-B14F-4D97-AF65-F5344CB8AC3E}">
        <p14:creationId xmlns:p14="http://schemas.microsoft.com/office/powerpoint/2010/main" val="270531008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25</a:t>
            </a:fld>
            <a:endParaRPr lang="en-US" dirty="0"/>
          </a:p>
        </p:txBody>
      </p:sp>
    </p:spTree>
    <p:extLst>
      <p:ext uri="{BB962C8B-B14F-4D97-AF65-F5344CB8AC3E}">
        <p14:creationId xmlns:p14="http://schemas.microsoft.com/office/powerpoint/2010/main" val="271740212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26</a:t>
            </a:fld>
            <a:endParaRPr lang="en-US" dirty="0"/>
          </a:p>
        </p:txBody>
      </p:sp>
    </p:spTree>
    <p:extLst>
      <p:ext uri="{BB962C8B-B14F-4D97-AF65-F5344CB8AC3E}">
        <p14:creationId xmlns:p14="http://schemas.microsoft.com/office/powerpoint/2010/main" val="320767493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3F7A3D7D-4DD0-4519-9573-665089B66871}" type="slidenum">
              <a:rPr lang="en-US" smtClean="0"/>
              <a:pPr/>
              <a:t>27</a:t>
            </a:fld>
            <a:endParaRPr lang="en-US" dirty="0"/>
          </a:p>
        </p:txBody>
      </p:sp>
    </p:spTree>
    <p:extLst>
      <p:ext uri="{BB962C8B-B14F-4D97-AF65-F5344CB8AC3E}">
        <p14:creationId xmlns:p14="http://schemas.microsoft.com/office/powerpoint/2010/main" val="321245338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Open Sans Extrabold" panose="020B0906030804020204" pitchFamily="34" charset="0"/>
                <a:ea typeface="Open Sans Extrabold" panose="020B0906030804020204" pitchFamily="34" charset="0"/>
                <a:cs typeface="Open Sans Extrabold" panose="020B0906030804020204" pitchFamily="34"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lstStyle>
            <a:lvl1pPr algn="l">
              <a:defRPr>
                <a:latin typeface="+mj-lt"/>
                <a:ea typeface="Open Sans Semibold" panose="020B0706030804020204" pitchFamily="34" charset="0"/>
                <a:cs typeface="Open Sans Semibold" panose="020B0706030804020204" pitchFamily="34" charset="0"/>
              </a:defRPr>
            </a:lvl1pPr>
          </a:lstStyle>
          <a:p>
            <a:r>
              <a:rPr lang="en-US" dirty="0"/>
              <a:t>Click to edit Master title style</a:t>
            </a:r>
          </a:p>
        </p:txBody>
      </p:sp>
      <p:sp>
        <p:nvSpPr>
          <p:cNvPr id="3" name="Content Placeholder 2"/>
          <p:cNvSpPr>
            <a:spLocks noGrp="1"/>
          </p:cNvSpPr>
          <p:nvPr>
            <p:ph idx="1"/>
          </p:nvPr>
        </p:nvSpPr>
        <p:spPr>
          <a:xfrm>
            <a:off x="190500" y="990600"/>
            <a:ext cx="8763000" cy="5334000"/>
          </a:xfrm>
        </p:spPr>
        <p:txBody>
          <a:bodyPr>
            <a:normAutofit/>
          </a:bodyPr>
          <a:lstStyle>
            <a:lvl1pPr marL="342900" indent="-342900">
              <a:lnSpc>
                <a:spcPct val="114000"/>
              </a:lnSpc>
              <a:buClrTx/>
              <a:buFont typeface="Wingdings" panose="05000000000000000000" pitchFamily="2" charset="2"/>
              <a:buChar char="§"/>
              <a:defRPr sz="2400">
                <a:latin typeface="+mj-lt"/>
                <a:ea typeface="Times New Roman" panose="02020603050405020304" pitchFamily="18" charset="0"/>
                <a:cs typeface="Times New Roman" panose="02020603050405020304" pitchFamily="18" charset="0"/>
              </a:defRPr>
            </a:lvl1pPr>
            <a:lvl2pPr marL="742950" indent="-285750">
              <a:lnSpc>
                <a:spcPct val="114000"/>
              </a:lnSpc>
              <a:buClrTx/>
              <a:buFont typeface="Arial" panose="020B0604020202020204" pitchFamily="34" charset="0"/>
              <a:buChar char="•"/>
              <a:defRPr sz="2000">
                <a:latin typeface="+mj-lt"/>
                <a:ea typeface="Times New Roman" panose="02020603050405020304" pitchFamily="18" charset="0"/>
                <a:cs typeface="Times New Roman" panose="02020603050405020304" pitchFamily="18" charset="0"/>
              </a:defRPr>
            </a:lvl2pPr>
            <a:lvl3pPr>
              <a:lnSpc>
                <a:spcPct val="114000"/>
              </a:lnSpc>
              <a:buClrTx/>
              <a:defRPr sz="1800">
                <a:latin typeface="+mj-lt"/>
                <a:ea typeface="Times New Roman" panose="02020603050405020304" pitchFamily="18" charset="0"/>
                <a:cs typeface="Times New Roman" panose="02020603050405020304" pitchFamily="18" charset="0"/>
              </a:defRPr>
            </a:lvl3pPr>
            <a:lvl4pPr>
              <a:lnSpc>
                <a:spcPct val="114000"/>
              </a:lnSpc>
              <a:buClrTx/>
              <a:defRPr sz="1600">
                <a:latin typeface="+mj-lt"/>
                <a:ea typeface="Times New Roman" panose="02020603050405020304" pitchFamily="18" charset="0"/>
                <a:cs typeface="Times New Roman" panose="02020603050405020304" pitchFamily="18" charset="0"/>
              </a:defRPr>
            </a:lvl4pPr>
            <a:lvl5pPr>
              <a:lnSpc>
                <a:spcPct val="114000"/>
              </a:lnSpc>
              <a:buClrTx/>
              <a:defRPr sz="1600">
                <a:latin typeface="+mj-lt"/>
                <a:ea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ktangel 11"/>
          <p:cNvSpPr/>
          <p:nvPr userDrawn="1"/>
        </p:nvSpPr>
        <p:spPr>
          <a:xfrm>
            <a:off x="0" y="647700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en-US" sz="1600" noProof="1">
                <a:solidFill>
                  <a:srgbClr val="FFFFFF"/>
                </a:solidFill>
                <a:latin typeface="+mj-lt"/>
                <a:ea typeface="Open Sans" panose="020B0606030504020204" pitchFamily="34" charset="0"/>
                <a:cs typeface="Open Sans" panose="020B0606030504020204" pitchFamily="34" charset="0"/>
              </a:rPr>
              <a:t>Department of Computer</a:t>
            </a:r>
            <a:r>
              <a:rPr lang="en-US" sz="1600" baseline="0" noProof="1">
                <a:solidFill>
                  <a:srgbClr val="FFFFFF"/>
                </a:solidFill>
                <a:latin typeface="+mj-lt"/>
                <a:ea typeface="Open Sans" panose="020B0606030504020204" pitchFamily="34" charset="0"/>
                <a:cs typeface="Open Sans" panose="020B0606030504020204" pitchFamily="34" charset="0"/>
              </a:rPr>
              <a:t> Science and Engineering</a:t>
            </a:r>
            <a:endParaRPr lang="da-DK" sz="1600" noProof="1">
              <a:solidFill>
                <a:srgbClr val="FFFFFF"/>
              </a:solidFill>
              <a:latin typeface="+mj-lt"/>
              <a:ea typeface="Open Sans" panose="020B0606030504020204" pitchFamily="34" charset="0"/>
              <a:cs typeface="Open Sans" panose="020B0606030504020204" pitchFamily="34" charset="0"/>
            </a:endParaRPr>
          </a:p>
        </p:txBody>
      </p:sp>
      <p:cxnSp>
        <p:nvCxnSpPr>
          <p:cNvPr id="6" name="Straight Connector 5"/>
          <p:cNvCxnSpPr/>
          <p:nvPr userDrawn="1"/>
        </p:nvCxnSpPr>
        <p:spPr>
          <a:xfrm>
            <a:off x="190500" y="914400"/>
            <a:ext cx="87630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ktangel 11"/>
          <p:cNvSpPr/>
          <p:nvPr userDrawn="1"/>
        </p:nvSpPr>
        <p:spPr>
          <a:xfrm>
            <a:off x="4572000" y="6477490"/>
            <a:ext cx="4572000" cy="381000"/>
          </a:xfrm>
          <a:prstGeom prst="rect">
            <a:avLst/>
          </a:prstGeom>
          <a:solidFill>
            <a:srgbClr val="34495E"/>
          </a:solidFill>
          <a:ln>
            <a:noFill/>
          </a:ln>
          <a:effectLst>
            <a:outerShdw blurRad="50800" dist="38100" dir="2700000" algn="tl" rotWithShape="0">
              <a:prstClr val="black">
                <a:alpha val="40000"/>
              </a:prstClr>
            </a:outerShdw>
          </a:effectLst>
        </p:spPr>
        <p:style>
          <a:lnRef idx="1">
            <a:schemeClr val="accent1"/>
          </a:lnRef>
          <a:fillRef idx="3">
            <a:schemeClr val="accent1"/>
          </a:fillRef>
          <a:effectRef idx="2">
            <a:schemeClr val="accent1"/>
          </a:effectRef>
          <a:fontRef idx="minor">
            <a:schemeClr val="lt1"/>
          </a:fontRef>
        </p:style>
        <p:txBody>
          <a:bodyPr anchor="ctr"/>
          <a:lstStyle/>
          <a:p>
            <a:pPr indent="-342900" algn="ctr">
              <a:defRPr/>
            </a:pPr>
            <a:r>
              <a:rPr lang="da-DK" sz="1600" noProof="1">
                <a:solidFill>
                  <a:srgbClr val="FFFFFF"/>
                </a:solidFill>
                <a:latin typeface="+mj-lt"/>
                <a:ea typeface="Open Sans" panose="020B0606030504020204" pitchFamily="34" charset="0"/>
                <a:cs typeface="Open Sans" panose="020B0606030504020204" pitchFamily="34" charset="0"/>
              </a:rPr>
              <a:t>Rajalakshmi Engineering College 		</a:t>
            </a:r>
            <a:fld id="{6E8469F3-9EE8-43CF-BEDC-475B89412D1D}" type="slidenum">
              <a:rPr lang="da-DK" sz="1600" kern="1200" noProof="1" smtClean="0">
                <a:solidFill>
                  <a:srgbClr val="FFFFFF"/>
                </a:solidFill>
                <a:latin typeface="+mn-lt"/>
                <a:ea typeface="Open Sans" panose="020B0606030504020204" pitchFamily="34" charset="0"/>
                <a:cs typeface="Open Sans" panose="020B0606030504020204" pitchFamily="34" charset="0"/>
              </a:rPr>
              <a:pPr/>
              <a:t>‹#›</a:t>
            </a:fld>
            <a:endParaRPr lang="da-DK" sz="1600" noProof="1">
              <a:solidFill>
                <a:srgbClr val="FFFFFF"/>
              </a:solidFill>
              <a:latin typeface="+mj-lt"/>
              <a:ea typeface="Open Sans" panose="020B0606030504020204" pitchFamily="34" charset="0"/>
              <a:cs typeface="Open Sans" panose="020B0606030504020204" pitchFamily="34" charset="0"/>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EA8BEFB-AE5B-48F9-BBAD-B489CDE48C80}"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EA8BEFB-AE5B-48F9-BBAD-B489CDE48C80}"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ags" Target="../tags/tag2.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ags" Target="../tags/tag3.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ags" Target="../tags/tag5.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ags" Target="../tags/tag6.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7.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8.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ags" Target="../tags/tag9.xml"/><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ags" Target="../tags/tag10.xml"/></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11.xml"/><Relationship Id="rId4" Type="http://schemas.openxmlformats.org/officeDocument/2006/relationships/image" Target="../media/image5.png"/></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ags" Target="../tags/tag12.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3.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ags" Target="../tags/tag14.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ags" Target="../tags/tag15.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6.xml"/><Relationship Id="rId4" Type="http://schemas.openxmlformats.org/officeDocument/2006/relationships/image" Target="../media/image7.png"/></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2.xml"/><Relationship Id="rId1" Type="http://schemas.openxmlformats.org/officeDocument/2006/relationships/tags" Target="../tags/tag17.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2.xml"/><Relationship Id="rId1" Type="http://schemas.openxmlformats.org/officeDocument/2006/relationships/tags" Target="../tags/tag18.xml"/><Relationship Id="rId4" Type="http://schemas.openxmlformats.org/officeDocument/2006/relationships/image" Target="../media/image8.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ags" Target="../tags/tag19.xml"/></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20.xml"/><Relationship Id="rId2" Type="http://schemas.openxmlformats.org/officeDocument/2006/relationships/slideLayout" Target="../slideLayouts/slideLayout2.xml"/><Relationship Id="rId1" Type="http://schemas.openxmlformats.org/officeDocument/2006/relationships/tags" Target="../tags/tag20.xml"/><Relationship Id="rId4" Type="http://schemas.openxmlformats.org/officeDocument/2006/relationships/image" Target="../media/image9.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21.xml"/></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2.xml"/></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3.xml"/><Relationship Id="rId4" Type="http://schemas.openxmlformats.org/officeDocument/2006/relationships/hyperlink" Target="https://www.knowafest.com/" TargetMode="Externa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rotWithShape="1">
          <a:blip r:embed="rId2">
            <a:extLst>
              <a:ext uri="{28A0092B-C50C-407E-A947-70E740481C1C}">
                <a14:useLocalDpi xmlns:a14="http://schemas.microsoft.com/office/drawing/2010/main" val="0"/>
              </a:ext>
            </a:extLst>
          </a:blip>
          <a:srcRect l="-776" t="63278" r="776" b="-30898"/>
          <a:stretch/>
        </p:blipFill>
        <p:spPr>
          <a:xfrm>
            <a:off x="-72010" y="-2532"/>
            <a:ext cx="9216010" cy="3231811"/>
          </a:xfrm>
          <a:prstGeom prst="rect">
            <a:avLst/>
          </a:prstGeom>
        </p:spPr>
      </p:pic>
      <p:grpSp>
        <p:nvGrpSpPr>
          <p:cNvPr id="20" name="Group 19"/>
          <p:cNvGrpSpPr/>
          <p:nvPr/>
        </p:nvGrpSpPr>
        <p:grpSpPr>
          <a:xfrm>
            <a:off x="-14748" y="1061708"/>
            <a:ext cx="9158748" cy="5441804"/>
            <a:chOff x="-14748" y="986564"/>
            <a:chExt cx="9158748" cy="5441804"/>
          </a:xfrm>
        </p:grpSpPr>
        <p:sp>
          <p:nvSpPr>
            <p:cNvPr id="22" name="TextBox 21"/>
            <p:cNvSpPr txBox="1"/>
            <p:nvPr/>
          </p:nvSpPr>
          <p:spPr>
            <a:xfrm>
              <a:off x="180285" y="4797152"/>
              <a:ext cx="4322209" cy="1631216"/>
            </a:xfrm>
            <a:prstGeom prst="rect">
              <a:avLst/>
            </a:prstGeom>
            <a:noFill/>
          </p:spPr>
          <p:txBody>
            <a:bodyPr wrap="square" rtlCol="0">
              <a:spAutoFit/>
            </a:bodyPr>
            <a:lstStyle/>
            <a:p>
              <a:r>
                <a:rPr lang="en-US" sz="2000" b="1" dirty="0"/>
                <a:t>220701054</a:t>
              </a:r>
            </a:p>
            <a:p>
              <a:r>
                <a:rPr lang="en-US" sz="2000" b="1" dirty="0" err="1"/>
                <a:t>Chithra.K</a:t>
              </a:r>
              <a:endParaRPr lang="en-US" sz="2000" b="1" dirty="0"/>
            </a:p>
            <a:p>
              <a:r>
                <a:rPr lang="en-US" sz="2000" b="1" dirty="0" err="1"/>
                <a:t>Mrs.J.JINU</a:t>
              </a:r>
              <a:r>
                <a:rPr lang="en-US" sz="2000" b="1" dirty="0"/>
                <a:t> SOPHIA</a:t>
              </a:r>
            </a:p>
            <a:p>
              <a:r>
                <a:rPr lang="en-US" sz="2000" b="1" dirty="0"/>
                <a:t>Assistant Professor(SG)</a:t>
              </a:r>
            </a:p>
            <a:p>
              <a:r>
                <a:rPr lang="en-US" sz="2000" b="1" dirty="0"/>
                <a:t>Computer Science Engineering</a:t>
              </a:r>
            </a:p>
          </p:txBody>
        </p:sp>
        <p:grpSp>
          <p:nvGrpSpPr>
            <p:cNvPr id="43" name="Group 42"/>
            <p:cNvGrpSpPr/>
            <p:nvPr/>
          </p:nvGrpSpPr>
          <p:grpSpPr>
            <a:xfrm>
              <a:off x="-14748" y="986564"/>
              <a:ext cx="9158748" cy="3628907"/>
              <a:chOff x="-14748" y="986564"/>
              <a:chExt cx="9158748" cy="3628907"/>
            </a:xfrm>
          </p:grpSpPr>
          <p:sp>
            <p:nvSpPr>
              <p:cNvPr id="45" name="Freeform 44"/>
              <p:cNvSpPr/>
              <p:nvPr/>
            </p:nvSpPr>
            <p:spPr>
              <a:xfrm>
                <a:off x="5003203" y="1761199"/>
                <a:ext cx="4140797" cy="2622445"/>
              </a:xfrm>
              <a:custGeom>
                <a:avLst/>
                <a:gdLst>
                  <a:gd name="connsiteX0" fmla="*/ 1 w 4140797"/>
                  <a:gd name="connsiteY0" fmla="*/ 0 h 2622445"/>
                  <a:gd name="connsiteX1" fmla="*/ 4140797 w 4140797"/>
                  <a:gd name="connsiteY1" fmla="*/ 0 h 2622445"/>
                  <a:gd name="connsiteX2" fmla="*/ 4140797 w 4140797"/>
                  <a:gd name="connsiteY2" fmla="*/ 2622445 h 2622445"/>
                  <a:gd name="connsiteX3" fmla="*/ 0 w 4140797"/>
                  <a:gd name="connsiteY3" fmla="*/ 2622445 h 2622445"/>
                  <a:gd name="connsiteX4" fmla="*/ 1311223 w 4140797"/>
                  <a:gd name="connsiteY4" fmla="*/ 1311222 h 2622445"/>
                  <a:gd name="connsiteX5" fmla="*/ 1 w 4140797"/>
                  <a:gd name="connsiteY5" fmla="*/ 0 h 262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140797" h="2622445">
                    <a:moveTo>
                      <a:pt x="1" y="0"/>
                    </a:moveTo>
                    <a:lnTo>
                      <a:pt x="4140797" y="0"/>
                    </a:lnTo>
                    <a:lnTo>
                      <a:pt x="4140797" y="2622445"/>
                    </a:lnTo>
                    <a:lnTo>
                      <a:pt x="0" y="2622445"/>
                    </a:lnTo>
                    <a:lnTo>
                      <a:pt x="1311223" y="1311222"/>
                    </a:lnTo>
                    <a:lnTo>
                      <a:pt x="1" y="0"/>
                    </a:lnTo>
                    <a:close/>
                  </a:path>
                </a:pathLst>
              </a:custGeom>
              <a:solidFill>
                <a:srgbClr val="00AAA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Pentagon 45"/>
              <p:cNvSpPr/>
              <p:nvPr/>
            </p:nvSpPr>
            <p:spPr>
              <a:xfrm>
                <a:off x="0" y="1529371"/>
                <a:ext cx="5743977" cy="3086100"/>
              </a:xfrm>
              <a:prstGeom prst="homePlate">
                <a:avLst/>
              </a:prstGeom>
              <a:solidFill>
                <a:srgbClr val="59595B"/>
              </a:solidFill>
              <a:ln>
                <a:solidFill>
                  <a:srgbClr val="59595B"/>
                </a:solid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47" name="Group 46"/>
              <p:cNvGrpSpPr/>
              <p:nvPr/>
            </p:nvGrpSpPr>
            <p:grpSpPr>
              <a:xfrm>
                <a:off x="-14748" y="986564"/>
                <a:ext cx="4014973" cy="1075928"/>
                <a:chOff x="-19391" y="1011603"/>
                <a:chExt cx="5278947" cy="1075928"/>
              </a:xfrm>
            </p:grpSpPr>
            <p:sp>
              <p:nvSpPr>
                <p:cNvPr id="51" name="Pentagon 50"/>
                <p:cNvSpPr/>
                <p:nvPr/>
              </p:nvSpPr>
              <p:spPr>
                <a:xfrm>
                  <a:off x="-19391" y="1011603"/>
                  <a:ext cx="5278947" cy="1075928"/>
                </a:xfrm>
                <a:prstGeom prst="homePlate">
                  <a:avLst/>
                </a:prstGeom>
                <a:solidFill>
                  <a:srgbClr val="00AAAD"/>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52" name="TextBox 51"/>
                <p:cNvSpPr txBox="1"/>
                <p:nvPr/>
              </p:nvSpPr>
              <p:spPr>
                <a:xfrm>
                  <a:off x="237041" y="1195624"/>
                  <a:ext cx="4181886" cy="707886"/>
                </a:xfrm>
                <a:prstGeom prst="rect">
                  <a:avLst/>
                </a:prstGeom>
                <a:noFill/>
              </p:spPr>
              <p:txBody>
                <a:bodyPr wrap="square" rtlCol="0" anchor="ctr">
                  <a:spAutoFit/>
                </a:bodyPr>
                <a:lstStyle/>
                <a:p>
                  <a:pPr algn="ctr"/>
                  <a:r>
                    <a:rPr lang="en-US" sz="2000" b="1" dirty="0">
                      <a:solidFill>
                        <a:schemeClr val="bg1"/>
                      </a:solidFill>
                      <a:ea typeface="Open Sans Light" panose="020B0306030504020204" pitchFamily="34" charset="0"/>
                      <a:cs typeface="Open Sans Light" panose="020B0306030504020204" pitchFamily="34" charset="0"/>
                    </a:rPr>
                    <a:t>Introduction to </a:t>
                  </a:r>
                </a:p>
                <a:p>
                  <a:pPr algn="ctr"/>
                  <a:r>
                    <a:rPr lang="en-US" sz="2000" b="1" dirty="0">
                      <a:solidFill>
                        <a:schemeClr val="bg1"/>
                      </a:solidFill>
                      <a:ea typeface="Open Sans Light" panose="020B0306030504020204" pitchFamily="34" charset="0"/>
                      <a:cs typeface="Open Sans Light" panose="020B0306030504020204" pitchFamily="34" charset="0"/>
                    </a:rPr>
                    <a:t>Robotic Process Automation </a:t>
                  </a:r>
                </a:p>
              </p:txBody>
            </p:sp>
          </p:grpSp>
          <p:sp>
            <p:nvSpPr>
              <p:cNvPr id="48" name="TextBox 47"/>
              <p:cNvSpPr txBox="1"/>
              <p:nvPr/>
            </p:nvSpPr>
            <p:spPr>
              <a:xfrm>
                <a:off x="678167" y="2259985"/>
                <a:ext cx="3893833" cy="1477328"/>
              </a:xfrm>
              <a:prstGeom prst="rect">
                <a:avLst/>
              </a:prstGeom>
              <a:noFill/>
            </p:spPr>
            <p:txBody>
              <a:bodyPr wrap="square" rtlCol="0">
                <a:spAutoFit/>
              </a:bodyPr>
              <a:lstStyle/>
              <a:p>
                <a:r>
                  <a:rPr lang="en-GB" sz="3000" dirty="0">
                    <a:solidFill>
                      <a:schemeClr val="bg1"/>
                    </a:solidFill>
                  </a:rPr>
                  <a:t>Automating Event Registration Reminders with UiPath</a:t>
                </a:r>
                <a:endParaRPr lang="en-US" sz="3000" b="1" dirty="0">
                  <a:solidFill>
                    <a:schemeClr val="bg1"/>
                  </a:solidFill>
                  <a:ea typeface="Open Sans Bold" panose="020B0806030504020204" pitchFamily="34" charset="0"/>
                  <a:cs typeface="Open Sans Bold" panose="020B0806030504020204" pitchFamily="34" charset="0"/>
                </a:endParaRPr>
              </a:p>
            </p:txBody>
          </p:sp>
          <p:sp>
            <p:nvSpPr>
              <p:cNvPr id="50" name="Freeform 49"/>
              <p:cNvSpPr/>
              <p:nvPr/>
            </p:nvSpPr>
            <p:spPr>
              <a:xfrm>
                <a:off x="4652237" y="1529372"/>
                <a:ext cx="1672363" cy="3086099"/>
              </a:xfrm>
              <a:custGeom>
                <a:avLst/>
                <a:gdLst>
                  <a:gd name="connsiteX0" fmla="*/ 0 w 1672363"/>
                  <a:gd name="connsiteY0" fmla="*/ 0 h 3086099"/>
                  <a:gd name="connsiteX1" fmla="*/ 129314 w 1672363"/>
                  <a:gd name="connsiteY1" fmla="*/ 0 h 3086099"/>
                  <a:gd name="connsiteX2" fmla="*/ 1672363 w 1672363"/>
                  <a:gd name="connsiteY2" fmla="*/ 1543050 h 3086099"/>
                  <a:gd name="connsiteX3" fmla="*/ 129314 w 1672363"/>
                  <a:gd name="connsiteY3" fmla="*/ 3086099 h 3086099"/>
                  <a:gd name="connsiteX4" fmla="*/ 0 w 1672363"/>
                  <a:gd name="connsiteY4" fmla="*/ 3086099 h 3086099"/>
                  <a:gd name="connsiteX5" fmla="*/ 1543049 w 1672363"/>
                  <a:gd name="connsiteY5" fmla="*/ 1543050 h 3086099"/>
                  <a:gd name="connsiteX6" fmla="*/ 0 w 1672363"/>
                  <a:gd name="connsiteY6" fmla="*/ 0 h 30860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72363" h="3086099">
                    <a:moveTo>
                      <a:pt x="0" y="0"/>
                    </a:moveTo>
                    <a:lnTo>
                      <a:pt x="129314" y="0"/>
                    </a:lnTo>
                    <a:lnTo>
                      <a:pt x="1672363" y="1543050"/>
                    </a:lnTo>
                    <a:lnTo>
                      <a:pt x="129314" y="3086099"/>
                    </a:lnTo>
                    <a:lnTo>
                      <a:pt x="0" y="3086099"/>
                    </a:lnTo>
                    <a:lnTo>
                      <a:pt x="1543049" y="1543050"/>
                    </a:lnTo>
                    <a:lnTo>
                      <a:pt x="0" y="0"/>
                    </a:lnTo>
                    <a:close/>
                  </a:path>
                </a:pathLst>
              </a:custGeom>
              <a:solidFill>
                <a:srgbClr val="A1A6A9"/>
              </a:solidFill>
              <a:ln>
                <a:noFill/>
              </a:ln>
              <a:effectLst>
                <a:outerShdw blurRad="50800" dist="38100" algn="l" rotWithShape="0">
                  <a:prstClr val="black">
                    <a:alpha val="3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grpSp>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128284" y="4441459"/>
            <a:ext cx="1813542" cy="1541511"/>
          </a:xfrm>
          <a:prstGeom prst="rect">
            <a:avLst/>
          </a:prstGeom>
        </p:spPr>
      </p:pic>
    </p:spTree>
    <p:extLst>
      <p:ext uri="{BB962C8B-B14F-4D97-AF65-F5344CB8AC3E}">
        <p14:creationId xmlns:p14="http://schemas.microsoft.com/office/powerpoint/2010/main" val="9298666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Abstract</a:t>
            </a:r>
            <a:endParaRPr lang="en-IN" dirty="0">
              <a:latin typeface="+mj-lt"/>
            </a:endParaRPr>
          </a:p>
        </p:txBody>
      </p:sp>
      <p:sp>
        <p:nvSpPr>
          <p:cNvPr id="3" name="Content Placeholder 2"/>
          <p:cNvSpPr>
            <a:spLocks noGrp="1"/>
          </p:cNvSpPr>
          <p:nvPr>
            <p:ph idx="1"/>
          </p:nvPr>
        </p:nvSpPr>
        <p:spPr>
          <a:xfrm>
            <a:off x="190500" y="1520788"/>
            <a:ext cx="8763000" cy="4803812"/>
          </a:xfrm>
        </p:spPr>
        <p:txBody>
          <a:bodyPr/>
          <a:lstStyle/>
          <a:p>
            <a:pPr algn="just"/>
            <a:r>
              <a:rPr lang="en-GB" dirty="0"/>
              <a:t>The </a:t>
            </a:r>
            <a:r>
              <a:rPr lang="en-GB" b="1" dirty="0"/>
              <a:t>Event Reminder Automation System</a:t>
            </a:r>
            <a:r>
              <a:rPr lang="en-GB" dirty="0"/>
              <a:t> automates sending reminders for event registrations by scraping details from the </a:t>
            </a:r>
            <a:r>
              <a:rPr lang="en-GB" dirty="0" err="1"/>
              <a:t>Knowafest</a:t>
            </a:r>
            <a:r>
              <a:rPr lang="en-GB" dirty="0"/>
              <a:t> website and tracking deadlines. It generates dynamic emails with event information and posters, notifying participants 7 and 3 days before the deadline. This system reduces manual effort, ensures timely updates, and improves event participation efficiency.</a:t>
            </a:r>
            <a:endParaRPr lang="en-US" dirty="0"/>
          </a:p>
        </p:txBody>
      </p:sp>
    </p:spTree>
    <p:custDataLst>
      <p:tags r:id="rId1"/>
    </p:custDataLst>
    <p:extLst>
      <p:ext uri="{BB962C8B-B14F-4D97-AF65-F5344CB8AC3E}">
        <p14:creationId xmlns:p14="http://schemas.microsoft.com/office/powerpoint/2010/main" val="2540407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Need for the Proposed System</a:t>
            </a:r>
            <a:endParaRPr lang="en-IN" dirty="0">
              <a:latin typeface="+mj-lt"/>
            </a:endParaRPr>
          </a:p>
        </p:txBody>
      </p:sp>
      <p:sp>
        <p:nvSpPr>
          <p:cNvPr id="3" name="Content Placeholder 2"/>
          <p:cNvSpPr>
            <a:spLocks noGrp="1"/>
          </p:cNvSpPr>
          <p:nvPr>
            <p:ph idx="1"/>
          </p:nvPr>
        </p:nvSpPr>
        <p:spPr>
          <a:xfrm>
            <a:off x="190500" y="914400"/>
            <a:ext cx="8763000" cy="5334000"/>
          </a:xfrm>
        </p:spPr>
        <p:txBody>
          <a:bodyPr/>
          <a:lstStyle/>
          <a:p>
            <a:r>
              <a:rPr lang="en-GB" b="1" dirty="0"/>
              <a:t>Timely Event Reminders</a:t>
            </a:r>
            <a:r>
              <a:rPr lang="en-GB" dirty="0"/>
              <a:t>: Ensures students receive reminders 7 and 3 days before event registration deadlines, reducing the risk of missing out on important events.</a:t>
            </a:r>
          </a:p>
          <a:p>
            <a:endParaRPr lang="en-GB" dirty="0"/>
          </a:p>
          <a:p>
            <a:r>
              <a:rPr lang="en-GB" dirty="0"/>
              <a:t>Automation: Automates the manual task of tracking event deadlines and sending reminders, saving time for both organizers and participants.</a:t>
            </a:r>
          </a:p>
          <a:p>
            <a:endParaRPr lang="en-GB" dirty="0"/>
          </a:p>
          <a:p>
            <a:r>
              <a:rPr lang="en-GB" b="1" dirty="0"/>
              <a:t>Increased Event Awareness</a:t>
            </a:r>
            <a:r>
              <a:rPr lang="en-GB" dirty="0"/>
              <a:t>: Sends dynamic reminder emails with event posters and details, raising awareness and increasing student engagement.</a:t>
            </a:r>
            <a:endParaRPr lang="en-US" dirty="0"/>
          </a:p>
        </p:txBody>
      </p:sp>
    </p:spTree>
    <p:custDataLst>
      <p:tags r:id="rId1"/>
    </p:custDataLst>
    <p:extLst>
      <p:ext uri="{BB962C8B-B14F-4D97-AF65-F5344CB8AC3E}">
        <p14:creationId xmlns:p14="http://schemas.microsoft.com/office/powerpoint/2010/main" val="35484857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Advantages of the Proposed System</a:t>
            </a:r>
            <a:endParaRPr lang="en-IN" dirty="0">
              <a:latin typeface="+mj-lt"/>
            </a:endParaRPr>
          </a:p>
        </p:txBody>
      </p:sp>
      <p:sp>
        <p:nvSpPr>
          <p:cNvPr id="3" name="Content Placeholder 2"/>
          <p:cNvSpPr>
            <a:spLocks noGrp="1"/>
          </p:cNvSpPr>
          <p:nvPr>
            <p:ph idx="1"/>
          </p:nvPr>
        </p:nvSpPr>
        <p:spPr>
          <a:xfrm>
            <a:off x="190500" y="1196752"/>
            <a:ext cx="8763000" cy="5127848"/>
          </a:xfrm>
        </p:spPr>
        <p:txBody>
          <a:bodyPr/>
          <a:lstStyle/>
          <a:p>
            <a:r>
              <a:rPr lang="en-GB" dirty="0"/>
              <a:t>Time-Saving: Automates the process of tracking event deadlines and sending reminders, freeing up time for both students and event organizers.</a:t>
            </a:r>
          </a:p>
          <a:p>
            <a:r>
              <a:rPr lang="en-GB" dirty="0"/>
              <a:t>Timely Notifications: Sends event reminders 7 and 3 days before registration deadlines, ensuring students don’t miss out on registration.</a:t>
            </a:r>
          </a:p>
          <a:p>
            <a:r>
              <a:rPr lang="en-GB" dirty="0"/>
              <a:t>Increased Engagement: Attaching event posters and details in emails keeps students informed and increases interest in events.</a:t>
            </a:r>
            <a:endParaRPr lang="en-US" dirty="0"/>
          </a:p>
        </p:txBody>
      </p:sp>
    </p:spTree>
    <p:custDataLst>
      <p:tags r:id="rId1"/>
    </p:custDataLst>
    <p:extLst>
      <p:ext uri="{BB962C8B-B14F-4D97-AF65-F5344CB8AC3E}">
        <p14:creationId xmlns:p14="http://schemas.microsoft.com/office/powerpoint/2010/main" val="13323072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Literature Survey</a:t>
            </a:r>
            <a:endParaRPr lang="en-IN" dirty="0">
              <a:latin typeface="+mj-lt"/>
            </a:endParaRPr>
          </a:p>
        </p:txBody>
      </p:sp>
      <p:sp>
        <p:nvSpPr>
          <p:cNvPr id="3" name="Content Placeholder 2"/>
          <p:cNvSpPr>
            <a:spLocks noGrp="1"/>
          </p:cNvSpPr>
          <p:nvPr>
            <p:ph idx="1"/>
          </p:nvPr>
        </p:nvSpPr>
        <p:spPr>
          <a:xfrm>
            <a:off x="190500" y="1448780"/>
            <a:ext cx="8763000" cy="4875820"/>
          </a:xfrm>
        </p:spPr>
        <p:txBody>
          <a:bodyPr/>
          <a:lstStyle/>
          <a:p>
            <a:r>
              <a:rPr lang="en-US" dirty="0"/>
              <a:t>Paper 1:</a:t>
            </a:r>
            <a:r>
              <a:rPr lang="en-GB" dirty="0"/>
              <a:t>Event Automation </a:t>
            </a:r>
          </a:p>
          <a:p>
            <a:pPr marL="0" indent="0">
              <a:buNone/>
            </a:pPr>
            <a:r>
              <a:rPr lang="en-GB" dirty="0"/>
              <a:t>                Advantages: Scalability</a:t>
            </a:r>
          </a:p>
          <a:p>
            <a:pPr marL="0" indent="0">
              <a:buNone/>
            </a:pPr>
            <a:r>
              <a:rPr lang="en-GB" dirty="0"/>
              <a:t>                Disadvantages: Initial cost</a:t>
            </a:r>
          </a:p>
          <a:p>
            <a:r>
              <a:rPr lang="en-US" dirty="0"/>
              <a:t>Paper 2:</a:t>
            </a:r>
            <a:r>
              <a:rPr lang="en-GB" dirty="0"/>
              <a:t>Reminder Systems </a:t>
            </a:r>
          </a:p>
          <a:p>
            <a:pPr marL="0" indent="0">
              <a:buNone/>
            </a:pPr>
            <a:r>
              <a:rPr lang="en-GB" dirty="0"/>
              <a:t>                 Advantages: Efficiency</a:t>
            </a:r>
          </a:p>
          <a:p>
            <a:pPr marL="0" indent="0">
              <a:buNone/>
            </a:pPr>
            <a:r>
              <a:rPr lang="en-GB" dirty="0"/>
              <a:t>                 Disadvantages: Dependency on network</a:t>
            </a:r>
            <a:endParaRPr lang="en-US" dirty="0"/>
          </a:p>
          <a:p>
            <a:endParaRPr lang="en-US" dirty="0"/>
          </a:p>
        </p:txBody>
      </p:sp>
    </p:spTree>
    <p:custDataLst>
      <p:tags r:id="rId1"/>
    </p:custDataLst>
    <p:extLst>
      <p:ext uri="{BB962C8B-B14F-4D97-AF65-F5344CB8AC3E}">
        <p14:creationId xmlns:p14="http://schemas.microsoft.com/office/powerpoint/2010/main" val="310643024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Main Objective</a:t>
            </a:r>
            <a:endParaRPr lang="en-IN" dirty="0">
              <a:latin typeface="+mj-lt"/>
            </a:endParaRPr>
          </a:p>
        </p:txBody>
      </p:sp>
      <p:sp>
        <p:nvSpPr>
          <p:cNvPr id="3" name="Content Placeholder 2"/>
          <p:cNvSpPr>
            <a:spLocks noGrp="1"/>
          </p:cNvSpPr>
          <p:nvPr>
            <p:ph idx="1"/>
          </p:nvPr>
        </p:nvSpPr>
        <p:spPr/>
        <p:txBody>
          <a:bodyPr/>
          <a:lstStyle/>
          <a:p>
            <a:pPr marL="0" indent="0">
              <a:buNone/>
            </a:pPr>
            <a:r>
              <a:rPr lang="en-GB" dirty="0"/>
              <a:t>The main objective of the Event Reminder Automation System is to automate the process of sending timely event registration reminders to students. This system will:</a:t>
            </a:r>
          </a:p>
          <a:p>
            <a:endParaRPr lang="en-GB" dirty="0"/>
          </a:p>
          <a:p>
            <a:r>
              <a:rPr lang="en-GB" dirty="0"/>
              <a:t>Scrape event details from the </a:t>
            </a:r>
            <a:r>
              <a:rPr lang="en-GB" dirty="0" err="1"/>
              <a:t>Knowafest</a:t>
            </a:r>
            <a:r>
              <a:rPr lang="en-GB" dirty="0"/>
              <a:t> website, focusing on registration deadlines.</a:t>
            </a:r>
          </a:p>
          <a:p>
            <a:r>
              <a:rPr lang="en-GB" dirty="0"/>
              <a:t>Send dynamic email reminders to students 7 days and 3 days before event </a:t>
            </a:r>
            <a:r>
              <a:rPr lang="en-GB" dirty="0" err="1"/>
              <a:t>regi</a:t>
            </a:r>
            <a:endParaRPr lang="en-GB" dirty="0"/>
          </a:p>
          <a:p>
            <a:r>
              <a:rPr lang="en-GB" dirty="0"/>
              <a:t>Ensure accuracy and timeliness by automating data retrieval and communication, reducing human error and increasing overall participation in </a:t>
            </a:r>
            <a:r>
              <a:rPr lang="en-GB" dirty="0" err="1"/>
              <a:t>events.stration</a:t>
            </a:r>
            <a:r>
              <a:rPr lang="en-GB" dirty="0"/>
              <a:t> closes.</a:t>
            </a:r>
            <a:endParaRPr lang="en-US" dirty="0"/>
          </a:p>
        </p:txBody>
      </p:sp>
    </p:spTree>
    <p:custDataLst>
      <p:tags r:id="rId1"/>
    </p:custDataLst>
    <p:extLst>
      <p:ext uri="{BB962C8B-B14F-4D97-AF65-F5344CB8AC3E}">
        <p14:creationId xmlns:p14="http://schemas.microsoft.com/office/powerpoint/2010/main" val="40945783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Architecture</a:t>
            </a:r>
            <a:endParaRPr lang="en-IN" dirty="0">
              <a:latin typeface="+mj-lt"/>
            </a:endParaRPr>
          </a:p>
        </p:txBody>
      </p:sp>
      <p:pic>
        <p:nvPicPr>
          <p:cNvPr id="6" name="Content Placeholder 5">
            <a:extLst>
              <a:ext uri="{FF2B5EF4-FFF2-40B4-BE49-F238E27FC236}">
                <a16:creationId xmlns:a16="http://schemas.microsoft.com/office/drawing/2014/main" id="{E25E05AF-0A98-404F-88D0-6DBCC76FC6AC}"/>
              </a:ext>
            </a:extLst>
          </p:cNvPr>
          <p:cNvPicPr>
            <a:picLocks noGrp="1"/>
          </p:cNvPicPr>
          <p:nvPr>
            <p:ph idx="1"/>
          </p:nvPr>
        </p:nvPicPr>
        <p:blipFill>
          <a:blip r:embed="rId4" cstate="print">
            <a:extLst>
              <a:ext uri="{28A0092B-C50C-407E-A947-70E740481C1C}">
                <a14:useLocalDpi xmlns:a14="http://schemas.microsoft.com/office/drawing/2010/main" val="0"/>
              </a:ext>
            </a:extLst>
          </a:blip>
          <a:srcRect/>
          <a:stretch>
            <a:fillRect/>
          </a:stretch>
        </p:blipFill>
        <p:spPr bwMode="auto">
          <a:xfrm>
            <a:off x="1043608" y="1772816"/>
            <a:ext cx="7020780" cy="3564396"/>
          </a:xfrm>
          <a:prstGeom prst="rect">
            <a:avLst/>
          </a:prstGeom>
          <a:noFill/>
          <a:ln>
            <a:noFill/>
          </a:ln>
        </p:spPr>
      </p:pic>
    </p:spTree>
    <p:custDataLst>
      <p:tags r:id="rId1"/>
    </p:custDataLst>
    <p:extLst>
      <p:ext uri="{BB962C8B-B14F-4D97-AF65-F5344CB8AC3E}">
        <p14:creationId xmlns:p14="http://schemas.microsoft.com/office/powerpoint/2010/main" val="37622339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System Requirements</a:t>
            </a:r>
            <a:endParaRPr lang="en-IN" dirty="0">
              <a:latin typeface="+mj-lt"/>
            </a:endParaRPr>
          </a:p>
        </p:txBody>
      </p:sp>
      <p:sp>
        <p:nvSpPr>
          <p:cNvPr id="3" name="Content Placeholder 2"/>
          <p:cNvSpPr>
            <a:spLocks noGrp="1"/>
          </p:cNvSpPr>
          <p:nvPr>
            <p:ph idx="1"/>
          </p:nvPr>
        </p:nvSpPr>
        <p:spPr>
          <a:xfrm>
            <a:off x="190500" y="1196752"/>
            <a:ext cx="8763000" cy="5127848"/>
          </a:xfrm>
        </p:spPr>
        <p:txBody>
          <a:bodyPr/>
          <a:lstStyle/>
          <a:p>
            <a:r>
              <a:rPr lang="en-US" dirty="0"/>
              <a:t>Hardware Requirements</a:t>
            </a:r>
          </a:p>
          <a:p>
            <a:pPr marL="0" indent="0">
              <a:buNone/>
            </a:pPr>
            <a:r>
              <a:rPr lang="en-GB" dirty="0"/>
              <a:t>                  Hardware: 4GB RAM, Dual-core processor.</a:t>
            </a:r>
          </a:p>
          <a:p>
            <a:r>
              <a:rPr lang="en-US" dirty="0"/>
              <a:t>Software Requirements</a:t>
            </a:r>
          </a:p>
          <a:p>
            <a:pPr marL="0" indent="0">
              <a:buNone/>
            </a:pPr>
            <a:r>
              <a:rPr lang="en-GB" dirty="0"/>
              <a:t>                Software: Windows 10, UiPath Studio, MS Outlook.</a:t>
            </a:r>
            <a:endParaRPr lang="en-US" dirty="0"/>
          </a:p>
        </p:txBody>
      </p:sp>
    </p:spTree>
    <p:custDataLst>
      <p:tags r:id="rId1"/>
    </p:custDataLst>
    <p:extLst>
      <p:ext uri="{BB962C8B-B14F-4D97-AF65-F5344CB8AC3E}">
        <p14:creationId xmlns:p14="http://schemas.microsoft.com/office/powerpoint/2010/main" val="12252271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normAutofit/>
          </a:bodyPr>
          <a:lstStyle/>
          <a:p>
            <a:r>
              <a:rPr lang="en-US" dirty="0"/>
              <a:t>Functional Description</a:t>
            </a:r>
            <a:endParaRPr lang="en-IN" dirty="0"/>
          </a:p>
        </p:txBody>
      </p:sp>
      <p:sp>
        <p:nvSpPr>
          <p:cNvPr id="3" name="Content Placeholder 2"/>
          <p:cNvSpPr>
            <a:spLocks noGrp="1"/>
          </p:cNvSpPr>
          <p:nvPr>
            <p:ph idx="1"/>
          </p:nvPr>
        </p:nvSpPr>
        <p:spPr>
          <a:xfrm>
            <a:off x="190500" y="990600"/>
            <a:ext cx="8763000" cy="5354724"/>
          </a:xfrm>
        </p:spPr>
        <p:txBody>
          <a:bodyPr>
            <a:normAutofit/>
          </a:bodyPr>
          <a:lstStyle/>
          <a:p>
            <a:pPr marL="0" indent="0">
              <a:buNone/>
            </a:pPr>
            <a:r>
              <a:rPr lang="en-GB" dirty="0"/>
              <a:t>1. Web Scraping and Data Extraction</a:t>
            </a:r>
          </a:p>
          <a:p>
            <a:r>
              <a:rPr lang="en-GB" dirty="0"/>
              <a:t>Scrape event details (event name, date, registration deadline, event poster) from the </a:t>
            </a:r>
            <a:r>
              <a:rPr lang="en-GB" dirty="0" err="1"/>
              <a:t>Knowafest</a:t>
            </a:r>
            <a:r>
              <a:rPr lang="en-GB" dirty="0"/>
              <a:t> website.</a:t>
            </a:r>
          </a:p>
          <a:p>
            <a:r>
              <a:rPr lang="en-GB" dirty="0"/>
              <a:t>Navigate the </a:t>
            </a:r>
            <a:r>
              <a:rPr lang="en-GB" dirty="0" err="1"/>
              <a:t>Knowafest</a:t>
            </a:r>
            <a:r>
              <a:rPr lang="en-GB" dirty="0"/>
              <a:t> Tamil Nadu events page.</a:t>
            </a:r>
          </a:p>
          <a:p>
            <a:r>
              <a:rPr lang="en-GB" dirty="0"/>
              <a:t>Extract relevant event details.</a:t>
            </a:r>
          </a:p>
          <a:p>
            <a:r>
              <a:rPr lang="en-GB" dirty="0"/>
              <a:t>Save extracted data into a local file or database (e.g., Excel/Google Sheets).</a:t>
            </a:r>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GB" dirty="0"/>
          </a:p>
          <a:p>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pPr lvl="1"/>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78450662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normAutofit/>
          </a:bodyPr>
          <a:lstStyle/>
          <a:p>
            <a:r>
              <a:rPr lang="en-US" dirty="0"/>
              <a:t>Functional Description</a:t>
            </a:r>
            <a:endParaRPr lang="en-IN" dirty="0"/>
          </a:p>
        </p:txBody>
      </p:sp>
      <p:pic>
        <p:nvPicPr>
          <p:cNvPr id="4" name="Content Placeholder 4">
            <a:extLst>
              <a:ext uri="{FF2B5EF4-FFF2-40B4-BE49-F238E27FC236}">
                <a16:creationId xmlns:a16="http://schemas.microsoft.com/office/drawing/2014/main" id="{2771C866-5EF6-4635-AD76-1A797BD65D55}"/>
              </a:ext>
            </a:extLst>
          </p:cNvPr>
          <p:cNvPicPr>
            <a:picLocks noGrp="1" noChangeAspect="1"/>
          </p:cNvPicPr>
          <p:nvPr>
            <p:ph idx="1"/>
          </p:nvPr>
        </p:nvPicPr>
        <p:blipFill>
          <a:blip r:embed="rId4" cstate="print">
            <a:extLst>
              <a:ext uri="{28A0092B-C50C-407E-A947-70E740481C1C}">
                <a14:useLocalDpi xmlns:a14="http://schemas.microsoft.com/office/drawing/2010/main" val="0"/>
              </a:ext>
            </a:extLst>
          </a:blip>
          <a:stretch>
            <a:fillRect/>
          </a:stretch>
        </p:blipFill>
        <p:spPr>
          <a:xfrm>
            <a:off x="1943708" y="1376772"/>
            <a:ext cx="5143943" cy="4932548"/>
          </a:xfrm>
        </p:spPr>
      </p:pic>
    </p:spTree>
    <p:custDataLst>
      <p:tags r:id="rId1"/>
    </p:custDataLst>
    <p:extLst>
      <p:ext uri="{BB962C8B-B14F-4D97-AF65-F5344CB8AC3E}">
        <p14:creationId xmlns:p14="http://schemas.microsoft.com/office/powerpoint/2010/main" val="72582678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06363"/>
            <a:ext cx="8763000" cy="808037"/>
          </a:xfrm>
        </p:spPr>
        <p:txBody>
          <a:bodyPr>
            <a:normAutofit/>
          </a:bodyPr>
          <a:lstStyle/>
          <a:p>
            <a:r>
              <a:rPr lang="en-US" dirty="0"/>
              <a:t>Functional Description</a:t>
            </a:r>
            <a:endParaRPr lang="en-IN" dirty="0"/>
          </a:p>
        </p:txBody>
      </p:sp>
      <p:sp>
        <p:nvSpPr>
          <p:cNvPr id="3" name="Content Placeholder 2"/>
          <p:cNvSpPr>
            <a:spLocks noGrp="1"/>
          </p:cNvSpPr>
          <p:nvPr>
            <p:ph idx="1"/>
          </p:nvPr>
        </p:nvSpPr>
        <p:spPr>
          <a:xfrm>
            <a:off x="190500" y="990600"/>
            <a:ext cx="8763000" cy="5354724"/>
          </a:xfrm>
        </p:spPr>
        <p:txBody>
          <a:bodyPr>
            <a:normAutofit/>
          </a:bodyPr>
          <a:lstStyle/>
          <a:p>
            <a:pPr marL="0" indent="0">
              <a:buNone/>
            </a:pPr>
            <a:r>
              <a:rPr lang="en-GB" dirty="0"/>
              <a:t>2.Email Notification and Reminder Automation</a:t>
            </a:r>
          </a:p>
          <a:p>
            <a:r>
              <a:rPr lang="en-GB" dirty="0"/>
              <a:t>Send dynamic reminder emails to participants about event registration deadlines.</a:t>
            </a:r>
          </a:p>
          <a:p>
            <a:r>
              <a:rPr lang="en-GB" dirty="0"/>
              <a:t>Calculate remaining days until registration closes.</a:t>
            </a:r>
          </a:p>
          <a:p>
            <a:r>
              <a:rPr lang="en-GB" dirty="0"/>
              <a:t>Generate and send reminder emails with event details and posters attached.</a:t>
            </a:r>
          </a:p>
          <a:p>
            <a:r>
              <a:rPr lang="en-GB" dirty="0"/>
              <a:t>Send reminders 7 days and 3 days before the deadline.</a:t>
            </a:r>
            <a:endParaRPr lang="en-US" dirty="0"/>
          </a:p>
        </p:txBody>
      </p:sp>
    </p:spTree>
    <p:custDataLst>
      <p:tags r:id="rId1"/>
    </p:custDataLst>
    <p:extLst>
      <p:ext uri="{BB962C8B-B14F-4D97-AF65-F5344CB8AC3E}">
        <p14:creationId xmlns:p14="http://schemas.microsoft.com/office/powerpoint/2010/main" val="24765623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0500" y="154533"/>
            <a:ext cx="8763000" cy="808037"/>
          </a:xfrm>
        </p:spPr>
        <p:txBody>
          <a:bodyPr>
            <a:normAutofit/>
          </a:bodyPr>
          <a:lstStyle/>
          <a:p>
            <a:r>
              <a:rPr lang="en-US" dirty="0"/>
              <a:t>Functional Description</a:t>
            </a:r>
            <a:endParaRPr lang="en-IN" dirty="0">
              <a:latin typeface="+mj-lt"/>
            </a:endParaRPr>
          </a:p>
        </p:txBody>
      </p:sp>
      <p:pic>
        <p:nvPicPr>
          <p:cNvPr id="11" name="Content Placeholder 10">
            <a:extLst>
              <a:ext uri="{FF2B5EF4-FFF2-40B4-BE49-F238E27FC236}">
                <a16:creationId xmlns:a16="http://schemas.microsoft.com/office/drawing/2014/main" id="{DD3023D9-D310-4893-B2F4-A418E41A83A6}"/>
              </a:ext>
            </a:extLst>
          </p:cNvPr>
          <p:cNvPicPr>
            <a:picLocks noGrp="1" noChangeAspect="1"/>
          </p:cNvPicPr>
          <p:nvPr>
            <p:ph idx="1"/>
          </p:nvPr>
        </p:nvPicPr>
        <p:blipFill rotWithShape="1">
          <a:blip r:embed="rId4" cstate="print">
            <a:extLst>
              <a:ext uri="{28A0092B-C50C-407E-A947-70E740481C1C}">
                <a14:useLocalDpi xmlns:a14="http://schemas.microsoft.com/office/drawing/2010/main" val="0"/>
              </a:ext>
            </a:extLst>
          </a:blip>
          <a:srcRect b="13267"/>
          <a:stretch/>
        </p:blipFill>
        <p:spPr>
          <a:xfrm>
            <a:off x="1943708" y="1412776"/>
            <a:ext cx="5184576" cy="4942848"/>
          </a:xfrm>
        </p:spPr>
      </p:pic>
    </p:spTree>
    <p:custDataLst>
      <p:tags r:id="rId1"/>
    </p:custDataLst>
    <p:extLst>
      <p:ext uri="{BB962C8B-B14F-4D97-AF65-F5344CB8AC3E}">
        <p14:creationId xmlns:p14="http://schemas.microsoft.com/office/powerpoint/2010/main" val="275482029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Table Design</a:t>
            </a:r>
            <a:endParaRPr lang="en-IN" dirty="0">
              <a:latin typeface="+mj-lt"/>
            </a:endParaRPr>
          </a:p>
        </p:txBody>
      </p:sp>
      <p:pic>
        <p:nvPicPr>
          <p:cNvPr id="5" name="Content Placeholder 4">
            <a:extLst>
              <a:ext uri="{FF2B5EF4-FFF2-40B4-BE49-F238E27FC236}">
                <a16:creationId xmlns:a16="http://schemas.microsoft.com/office/drawing/2014/main" id="{3BF5C1B2-2228-445E-8ADB-CD0E99FD5582}"/>
              </a:ext>
            </a:extLst>
          </p:cNvPr>
          <p:cNvPicPr>
            <a:picLocks noGrp="1" noChangeAspect="1"/>
          </p:cNvPicPr>
          <p:nvPr>
            <p:ph idx="1"/>
          </p:nvPr>
        </p:nvPicPr>
        <p:blipFill>
          <a:blip r:embed="rId4">
            <a:extLst>
              <a:ext uri="{28A0092B-C50C-407E-A947-70E740481C1C}">
                <a14:useLocalDpi xmlns:a14="http://schemas.microsoft.com/office/drawing/2010/main" val="0"/>
              </a:ext>
            </a:extLst>
          </a:blip>
          <a:stretch>
            <a:fillRect/>
          </a:stretch>
        </p:blipFill>
        <p:spPr>
          <a:xfrm>
            <a:off x="1511660" y="914400"/>
            <a:ext cx="5862162" cy="5334000"/>
          </a:xfrm>
        </p:spPr>
      </p:pic>
    </p:spTree>
    <p:custDataLst>
      <p:tags r:id="rId1"/>
    </p:custDataLst>
    <p:extLst>
      <p:ext uri="{BB962C8B-B14F-4D97-AF65-F5344CB8AC3E}">
        <p14:creationId xmlns:p14="http://schemas.microsoft.com/office/powerpoint/2010/main" val="163916937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p:txBody>
          <a:bodyPr>
            <a:normAutofit lnSpcReduction="10000"/>
          </a:bodyPr>
          <a:lstStyle/>
          <a:p>
            <a:r>
              <a:rPr lang="en-US" dirty="0"/>
              <a:t>Main Process</a:t>
            </a:r>
          </a:p>
          <a:p>
            <a:pPr marL="0" indent="0">
              <a:buNone/>
            </a:pPr>
            <a:r>
              <a:rPr lang="en-GB" dirty="0"/>
              <a:t>The main process of the </a:t>
            </a:r>
            <a:r>
              <a:rPr lang="en-GB" b="1" dirty="0"/>
              <a:t>Event Reminder Automation System</a:t>
            </a:r>
            <a:r>
              <a:rPr lang="en-GB" dirty="0"/>
              <a:t> automates the workflow of managing event reminders. It begins by scraping event details such as event name, date, registration deadline, and poster from the </a:t>
            </a:r>
            <a:r>
              <a:rPr lang="en-GB" b="1" dirty="0" err="1"/>
              <a:t>Knowafest</a:t>
            </a:r>
            <a:r>
              <a:rPr lang="en-GB" dirty="0"/>
              <a:t> website and storing them in a database or Google Sheets. The system calculates the number of days until the registration deadline and schedules reminder emails to be sent 7 days and 3 days before the deadline. These emails include event details and posters, dynamically tailored for each event, and are sent via an SMTP email service. The process logs email statuses (e.g., Sent, Failed) for tracking and ensures timely, accurate notifications without manual effort, enhancing user engagement and event organization.</a:t>
            </a:r>
            <a:endParaRPr lang="en-US" dirty="0"/>
          </a:p>
          <a:p>
            <a:pPr marL="0" indent="0">
              <a:buNone/>
            </a:pPr>
            <a:endParaRPr lang="en-US" dirty="0"/>
          </a:p>
        </p:txBody>
      </p:sp>
    </p:spTree>
    <p:custDataLst>
      <p:tags r:id="rId1"/>
    </p:custDataLst>
    <p:extLst>
      <p:ext uri="{BB962C8B-B14F-4D97-AF65-F5344CB8AC3E}">
        <p14:creationId xmlns:p14="http://schemas.microsoft.com/office/powerpoint/2010/main" val="30234279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Process Design</a:t>
            </a:r>
            <a:endParaRPr lang="en-IN" dirty="0">
              <a:latin typeface="+mj-lt"/>
            </a:endParaRPr>
          </a:p>
        </p:txBody>
      </p:sp>
      <p:sp>
        <p:nvSpPr>
          <p:cNvPr id="3" name="Content Placeholder 2"/>
          <p:cNvSpPr>
            <a:spLocks noGrp="1"/>
          </p:cNvSpPr>
          <p:nvPr>
            <p:ph idx="1"/>
          </p:nvPr>
        </p:nvSpPr>
        <p:spPr/>
        <p:txBody>
          <a:bodyPr>
            <a:normAutofit/>
          </a:bodyPr>
          <a:lstStyle/>
          <a:p>
            <a:r>
              <a:rPr lang="en-US" dirty="0"/>
              <a:t>Sub process</a:t>
            </a:r>
          </a:p>
          <a:p>
            <a:pPr marL="457200" indent="-457200">
              <a:buFont typeface="+mj-lt"/>
              <a:buAutoNum type="arabicPeriod"/>
            </a:pPr>
            <a:r>
              <a:rPr lang="en-GB" b="1" dirty="0"/>
              <a:t>Event Data </a:t>
            </a:r>
            <a:r>
              <a:rPr lang="en-GB" b="1" dirty="0" err="1"/>
              <a:t>Extraction:</a:t>
            </a:r>
            <a:r>
              <a:rPr lang="en-GB" dirty="0" err="1"/>
              <a:t>Scrapes</a:t>
            </a:r>
            <a:r>
              <a:rPr lang="en-GB" dirty="0"/>
              <a:t> event details such as name, date, registration deadline, and poster from the </a:t>
            </a:r>
            <a:r>
              <a:rPr lang="en-GB" dirty="0" err="1"/>
              <a:t>Knowafest</a:t>
            </a:r>
            <a:r>
              <a:rPr lang="en-GB" dirty="0"/>
              <a:t> website and stores them in a database or Google Sheets for further processing.</a:t>
            </a:r>
          </a:p>
          <a:p>
            <a:pPr marL="457200" indent="-457200">
              <a:buFont typeface="+mj-lt"/>
              <a:buAutoNum type="arabicPeriod"/>
            </a:pPr>
            <a:r>
              <a:rPr lang="en-GB" b="1" dirty="0"/>
              <a:t>Reminder </a:t>
            </a:r>
            <a:r>
              <a:rPr lang="en-GB" b="1" dirty="0" err="1"/>
              <a:t>Scheduling:</a:t>
            </a:r>
            <a:r>
              <a:rPr lang="en-GB" dirty="0" err="1"/>
              <a:t>Calculates</a:t>
            </a:r>
            <a:r>
              <a:rPr lang="en-GB" dirty="0"/>
              <a:t> the days remaining until the registration deadline and schedules email reminders 7 days and 3 days before the deadline for each event.</a:t>
            </a:r>
          </a:p>
          <a:p>
            <a:pPr marL="457200" indent="-457200">
              <a:buFont typeface="+mj-lt"/>
              <a:buAutoNum type="arabicPeriod"/>
            </a:pPr>
            <a:r>
              <a:rPr lang="en-GB" b="1" dirty="0"/>
              <a:t>Email Notification </a:t>
            </a:r>
            <a:r>
              <a:rPr lang="en-GB" b="1" dirty="0" err="1"/>
              <a:t>Generation:</a:t>
            </a:r>
            <a:r>
              <a:rPr lang="en-GB" dirty="0" err="1"/>
              <a:t>Dynamically</a:t>
            </a:r>
            <a:r>
              <a:rPr lang="en-GB" dirty="0"/>
              <a:t> creates and sends personalized emails with event details and posters attached, logging the status of each email for tracking and reporting.</a:t>
            </a:r>
            <a:endParaRPr lang="en-US" dirty="0"/>
          </a:p>
        </p:txBody>
      </p:sp>
    </p:spTree>
    <p:custDataLst>
      <p:tags r:id="rId1"/>
    </p:custDataLst>
    <p:extLst>
      <p:ext uri="{BB962C8B-B14F-4D97-AF65-F5344CB8AC3E}">
        <p14:creationId xmlns:p14="http://schemas.microsoft.com/office/powerpoint/2010/main" val="54302802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p:cNvSpPr>
            <a:spLocks noGrp="1"/>
          </p:cNvSpPr>
          <p:nvPr>
            <p:ph idx="1"/>
          </p:nvPr>
        </p:nvSpPr>
        <p:spPr/>
        <p:txBody>
          <a:bodyPr>
            <a:normAutofit/>
          </a:bodyPr>
          <a:lstStyle/>
          <a:p>
            <a:pPr marL="0" indent="0">
              <a:buNone/>
            </a:pPr>
            <a:endParaRPr lang="en-US" dirty="0"/>
          </a:p>
          <a:p>
            <a:pPr marL="457200" indent="-457200">
              <a:buAutoNum type="arabicPeriod"/>
            </a:pPr>
            <a:r>
              <a:rPr lang="en-GB" b="1" dirty="0"/>
              <a:t>Web Scraping and Data Collection</a:t>
            </a:r>
            <a:endParaRPr lang="en-US" b="1" dirty="0"/>
          </a:p>
          <a:p>
            <a:pPr marL="457200" indent="-457200">
              <a:buAutoNum type="arabicPeriod"/>
            </a:pPr>
            <a:endParaRPr lang="en-US" dirty="0"/>
          </a:p>
          <a:p>
            <a:pPr marL="0" indent="0">
              <a:buNone/>
            </a:pPr>
            <a:r>
              <a:rPr lang="en-GB" dirty="0"/>
              <a:t>The first module focuses on automating the extraction of event data from the </a:t>
            </a:r>
            <a:r>
              <a:rPr lang="en-GB" dirty="0" err="1"/>
              <a:t>Knowafest</a:t>
            </a:r>
            <a:r>
              <a:rPr lang="en-GB" dirty="0"/>
              <a:t> website. The system navigates to the Tamil Nadu events page and identifies relevant event information, such as the event name, date, registration deadline, poster, and link. Once extracted, the data is stored in a Google Sheet or database. This module ensures accurate and structured data collection without manual intervention.</a:t>
            </a:r>
            <a:endParaRPr lang="en-US" dirty="0"/>
          </a:p>
        </p:txBody>
      </p:sp>
    </p:spTree>
    <p:custDataLst>
      <p:tags r:id="rId1"/>
    </p:custDataLst>
    <p:extLst>
      <p:ext uri="{BB962C8B-B14F-4D97-AF65-F5344CB8AC3E}">
        <p14:creationId xmlns:p14="http://schemas.microsoft.com/office/powerpoint/2010/main" val="176947292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pic>
        <p:nvPicPr>
          <p:cNvPr id="5" name="Content Placeholder 4">
            <a:extLst>
              <a:ext uri="{FF2B5EF4-FFF2-40B4-BE49-F238E27FC236}">
                <a16:creationId xmlns:a16="http://schemas.microsoft.com/office/drawing/2014/main" id="{FA0F6639-6A60-42E5-97DD-C74AC6C60EE2}"/>
              </a:ext>
            </a:extLst>
          </p:cNvPr>
          <p:cNvPicPr>
            <a:picLocks noGrp="1" noChangeAspect="1"/>
          </p:cNvPicPr>
          <p:nvPr>
            <p:ph idx="1"/>
          </p:nvPr>
        </p:nvPicPr>
        <p:blipFill>
          <a:blip r:embed="rId4"/>
          <a:stretch>
            <a:fillRect/>
          </a:stretch>
        </p:blipFill>
        <p:spPr>
          <a:xfrm>
            <a:off x="1995128" y="1242675"/>
            <a:ext cx="5153744" cy="4829849"/>
          </a:xfrm>
        </p:spPr>
      </p:pic>
    </p:spTree>
    <p:custDataLst>
      <p:tags r:id="rId1"/>
    </p:custDataLst>
    <p:extLst>
      <p:ext uri="{BB962C8B-B14F-4D97-AF65-F5344CB8AC3E}">
        <p14:creationId xmlns:p14="http://schemas.microsoft.com/office/powerpoint/2010/main" val="10463862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sp>
        <p:nvSpPr>
          <p:cNvPr id="3" name="Content Placeholder 2"/>
          <p:cNvSpPr>
            <a:spLocks noGrp="1"/>
          </p:cNvSpPr>
          <p:nvPr>
            <p:ph idx="1"/>
          </p:nvPr>
        </p:nvSpPr>
        <p:spPr/>
        <p:txBody>
          <a:bodyPr>
            <a:normAutofit/>
          </a:bodyPr>
          <a:lstStyle/>
          <a:p>
            <a:pPr marL="0" indent="0">
              <a:buNone/>
            </a:pPr>
            <a:endParaRPr lang="en-US" dirty="0"/>
          </a:p>
          <a:p>
            <a:pPr marL="0" indent="0">
              <a:buNone/>
            </a:pPr>
            <a:r>
              <a:rPr lang="en-US" dirty="0"/>
              <a:t>2. </a:t>
            </a:r>
            <a:r>
              <a:rPr lang="en-GB" b="1" dirty="0"/>
              <a:t>Reminder Scheduling and Notification</a:t>
            </a:r>
          </a:p>
          <a:p>
            <a:pPr marL="0" indent="0">
              <a:buNone/>
            </a:pPr>
            <a:endParaRPr lang="en-GB" b="1" dirty="0"/>
          </a:p>
          <a:p>
            <a:pPr marL="0" indent="0">
              <a:buNone/>
            </a:pPr>
            <a:r>
              <a:rPr lang="en-GB" dirty="0"/>
              <a:t>The second module automates scheduling and sending email reminders. Based on the event registration deadline, it calculates the reminder dates (7 days and 3 days prior). The system dynamically generates and sends emails, attaching the event poster and including all event details. Sent emails are logged for status tracking and future reference.</a:t>
            </a:r>
            <a:endParaRPr lang="en-US" b="1" dirty="0"/>
          </a:p>
        </p:txBody>
      </p:sp>
    </p:spTree>
    <p:custDataLst>
      <p:tags r:id="rId1"/>
    </p:custDataLst>
    <p:extLst>
      <p:ext uri="{BB962C8B-B14F-4D97-AF65-F5344CB8AC3E}">
        <p14:creationId xmlns:p14="http://schemas.microsoft.com/office/powerpoint/2010/main" val="40436957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Implementation</a:t>
            </a:r>
            <a:endParaRPr lang="en-IN" dirty="0">
              <a:latin typeface="+mj-lt"/>
            </a:endParaRPr>
          </a:p>
        </p:txBody>
      </p:sp>
      <p:pic>
        <p:nvPicPr>
          <p:cNvPr id="5" name="Content Placeholder 4">
            <a:extLst>
              <a:ext uri="{FF2B5EF4-FFF2-40B4-BE49-F238E27FC236}">
                <a16:creationId xmlns:a16="http://schemas.microsoft.com/office/drawing/2014/main" id="{325A8E58-0BCB-407E-BE65-D88AD46E10B0}"/>
              </a:ext>
            </a:extLst>
          </p:cNvPr>
          <p:cNvPicPr>
            <a:picLocks noGrp="1" noChangeAspect="1"/>
          </p:cNvPicPr>
          <p:nvPr>
            <p:ph idx="1"/>
          </p:nvPr>
        </p:nvPicPr>
        <p:blipFill>
          <a:blip r:embed="rId4"/>
          <a:stretch>
            <a:fillRect/>
          </a:stretch>
        </p:blipFill>
        <p:spPr>
          <a:xfrm>
            <a:off x="1909391" y="1185517"/>
            <a:ext cx="5325218" cy="4944165"/>
          </a:xfrm>
        </p:spPr>
      </p:pic>
    </p:spTree>
    <p:custDataLst>
      <p:tags r:id="rId1"/>
    </p:custDataLst>
    <p:extLst>
      <p:ext uri="{BB962C8B-B14F-4D97-AF65-F5344CB8AC3E}">
        <p14:creationId xmlns:p14="http://schemas.microsoft.com/office/powerpoint/2010/main" val="2318347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sp>
        <p:nvSpPr>
          <p:cNvPr id="3" name="Content Placeholder 2"/>
          <p:cNvSpPr>
            <a:spLocks noGrp="1"/>
          </p:cNvSpPr>
          <p:nvPr>
            <p:ph idx="1"/>
          </p:nvPr>
        </p:nvSpPr>
        <p:spPr>
          <a:xfrm>
            <a:off x="190500" y="1016732"/>
            <a:ext cx="8763000" cy="5334000"/>
          </a:xfrm>
        </p:spPr>
        <p:txBody>
          <a:bodyPr>
            <a:normAutofit/>
          </a:bodyPr>
          <a:lstStyle/>
          <a:p>
            <a:pPr marL="0" indent="0">
              <a:buNone/>
            </a:pPr>
            <a:r>
              <a:rPr lang="en-US" b="1" dirty="0"/>
              <a:t>Description</a:t>
            </a:r>
          </a:p>
          <a:p>
            <a:pPr marL="0" indent="0">
              <a:buNone/>
            </a:pPr>
            <a:r>
              <a:rPr lang="en-GB" dirty="0"/>
              <a:t>Testing is a crucial phase to validate the functionality and performance of the </a:t>
            </a:r>
            <a:r>
              <a:rPr lang="en-GB" b="1" dirty="0"/>
              <a:t>Event Reminder Automation System</a:t>
            </a:r>
            <a:r>
              <a:rPr lang="en-GB" dirty="0"/>
              <a:t>. It ensures that all modules, including web scraping, data storage, reminder scheduling, and email notification, work seamlessly both independently and as a whole. Testing involves verifying the accuracy of scraped data, the correctness of calculated reminder dates, and the successful delivery of emails with appropriate content and attachments. Additionally, the system is tested under various conditions, such as handling multiple events and users, to ensure reliability, scalability, and user satisfaction.</a:t>
            </a:r>
          </a:p>
          <a:p>
            <a:endParaRPr lang="en-US" dirty="0"/>
          </a:p>
          <a:p>
            <a:pPr marL="0" indent="0">
              <a:buNone/>
            </a:pPr>
            <a:endParaRPr lang="en-US" dirty="0"/>
          </a:p>
          <a:p>
            <a:endParaRPr lang="en-US" dirty="0"/>
          </a:p>
        </p:txBody>
      </p:sp>
    </p:spTree>
    <p:custDataLst>
      <p:tags r:id="rId1"/>
    </p:custDataLst>
    <p:extLst>
      <p:ext uri="{BB962C8B-B14F-4D97-AF65-F5344CB8AC3E}">
        <p14:creationId xmlns:p14="http://schemas.microsoft.com/office/powerpoint/2010/main" val="192132758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Testing</a:t>
            </a:r>
            <a:endParaRPr lang="en-IN" dirty="0">
              <a:latin typeface="+mj-lt"/>
            </a:endParaRPr>
          </a:p>
        </p:txBody>
      </p:sp>
      <p:pic>
        <p:nvPicPr>
          <p:cNvPr id="5" name="Content Placeholder 4">
            <a:extLst>
              <a:ext uri="{FF2B5EF4-FFF2-40B4-BE49-F238E27FC236}">
                <a16:creationId xmlns:a16="http://schemas.microsoft.com/office/drawing/2014/main" id="{E005128C-100A-4E6C-8D8E-699764054E6E}"/>
              </a:ext>
            </a:extLst>
          </p:cNvPr>
          <p:cNvPicPr>
            <a:picLocks noGrp="1" noChangeAspect="1"/>
          </p:cNvPicPr>
          <p:nvPr>
            <p:ph idx="1"/>
          </p:nvPr>
        </p:nvPicPr>
        <p:blipFill>
          <a:blip r:embed="rId4"/>
          <a:stretch>
            <a:fillRect/>
          </a:stretch>
        </p:blipFill>
        <p:spPr>
          <a:xfrm>
            <a:off x="190500" y="1926740"/>
            <a:ext cx="8763000" cy="3461719"/>
          </a:xfrm>
        </p:spPr>
      </p:pic>
    </p:spTree>
    <p:custDataLst>
      <p:tags r:id="rId1"/>
    </p:custDataLst>
    <p:extLst>
      <p:ext uri="{BB962C8B-B14F-4D97-AF65-F5344CB8AC3E}">
        <p14:creationId xmlns:p14="http://schemas.microsoft.com/office/powerpoint/2010/main" val="5466818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Conclusions</a:t>
            </a:r>
            <a:endParaRPr lang="en-IN" dirty="0">
              <a:latin typeface="+mj-lt"/>
            </a:endParaRPr>
          </a:p>
        </p:txBody>
      </p:sp>
      <p:sp>
        <p:nvSpPr>
          <p:cNvPr id="3" name="Content Placeholder 2"/>
          <p:cNvSpPr>
            <a:spLocks noGrp="1"/>
          </p:cNvSpPr>
          <p:nvPr>
            <p:ph idx="1"/>
          </p:nvPr>
        </p:nvSpPr>
        <p:spPr/>
        <p:txBody>
          <a:bodyPr/>
          <a:lstStyle/>
          <a:p>
            <a:pPr marL="0" indent="0">
              <a:buNone/>
            </a:pPr>
            <a:r>
              <a:rPr lang="en-GB" dirty="0"/>
              <a:t>The </a:t>
            </a:r>
            <a:r>
              <a:rPr lang="en-GB" b="1" dirty="0"/>
              <a:t>Event Reminder Automation System</a:t>
            </a:r>
            <a:r>
              <a:rPr lang="en-GB" dirty="0"/>
              <a:t> successfully automates the process of event data collection, reminder scheduling, and email notification, minimizing manual effort and ensuring timely delivery of reminders. By leveraging web scraping, data management, and dynamic email generation, the system enhances event participation and improves overall efficiency. The project demonstrates the power of automation in simplifying repetitive tasks and ensuring accuracy, reliability, and scalability in managing event workflows.</a:t>
            </a:r>
            <a:endParaRPr lang="en-US" dirty="0"/>
          </a:p>
          <a:p>
            <a:endParaRPr lang="en-US" dirty="0"/>
          </a:p>
        </p:txBody>
      </p:sp>
    </p:spTree>
    <p:custDataLst>
      <p:tags r:id="rId1"/>
    </p:custDataLst>
    <p:extLst>
      <p:ext uri="{BB962C8B-B14F-4D97-AF65-F5344CB8AC3E}">
        <p14:creationId xmlns:p14="http://schemas.microsoft.com/office/powerpoint/2010/main" val="7153749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Future Enhancement</a:t>
            </a:r>
            <a:endParaRPr lang="en-IN" dirty="0">
              <a:latin typeface="+mj-lt"/>
            </a:endParaRPr>
          </a:p>
        </p:txBody>
      </p:sp>
      <p:sp>
        <p:nvSpPr>
          <p:cNvPr id="3" name="Content Placeholder 2"/>
          <p:cNvSpPr>
            <a:spLocks noGrp="1"/>
          </p:cNvSpPr>
          <p:nvPr>
            <p:ph idx="1"/>
          </p:nvPr>
        </p:nvSpPr>
        <p:spPr/>
        <p:txBody>
          <a:bodyPr/>
          <a:lstStyle/>
          <a:p>
            <a:pPr marL="0" indent="0">
              <a:buNone/>
            </a:pPr>
            <a:endParaRPr lang="en-GB" b="1" dirty="0"/>
          </a:p>
          <a:p>
            <a:pPr marL="0" indent="0">
              <a:buNone/>
            </a:pPr>
            <a:r>
              <a:rPr lang="en-GB" b="1" dirty="0"/>
              <a:t>1.Multi-Language Support:</a:t>
            </a:r>
          </a:p>
          <a:p>
            <a:pPr marL="0" indent="0">
              <a:buNone/>
            </a:pPr>
            <a:r>
              <a:rPr lang="en-GB" dirty="0"/>
              <a:t>Extend email notifications to support multiple languages for a broader audience, improving accessibility and user engagement across different demographics.</a:t>
            </a:r>
          </a:p>
          <a:p>
            <a:pPr marL="0" indent="0">
              <a:buNone/>
            </a:pPr>
            <a:r>
              <a:rPr lang="en-GB" b="1" dirty="0"/>
              <a:t>2.Real-Time Updates: </a:t>
            </a:r>
          </a:p>
          <a:p>
            <a:pPr marL="0" indent="0">
              <a:buNone/>
            </a:pPr>
            <a:r>
              <a:rPr lang="en-GB" dirty="0"/>
              <a:t>Implement automated periodic checks to update event data in real-time, ensuring that users receive the most current event information without manual intervention.</a:t>
            </a:r>
            <a:endParaRPr lang="en-US" dirty="0"/>
          </a:p>
          <a:p>
            <a:endParaRPr lang="en-US" dirty="0"/>
          </a:p>
          <a:p>
            <a:endParaRPr lang="en-US" dirty="0"/>
          </a:p>
        </p:txBody>
      </p:sp>
    </p:spTree>
    <p:custDataLst>
      <p:tags r:id="rId1"/>
    </p:custDataLst>
    <p:extLst>
      <p:ext uri="{BB962C8B-B14F-4D97-AF65-F5344CB8AC3E}">
        <p14:creationId xmlns:p14="http://schemas.microsoft.com/office/powerpoint/2010/main" val="21108532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References</a:t>
            </a:r>
            <a:endParaRPr lang="en-IN" dirty="0">
              <a:latin typeface="+mj-lt"/>
            </a:endParaRPr>
          </a:p>
        </p:txBody>
      </p:sp>
      <p:sp>
        <p:nvSpPr>
          <p:cNvPr id="4" name="Rectangle 1">
            <a:extLst>
              <a:ext uri="{FF2B5EF4-FFF2-40B4-BE49-F238E27FC236}">
                <a16:creationId xmlns:a16="http://schemas.microsoft.com/office/drawing/2014/main" id="{07819DD2-12F0-4039-8963-9EAA79D70E48}"/>
              </a:ext>
            </a:extLst>
          </p:cNvPr>
          <p:cNvSpPr>
            <a:spLocks noGrp="1" noChangeArrowheads="1"/>
          </p:cNvSpPr>
          <p:nvPr>
            <p:ph idx="1"/>
          </p:nvPr>
        </p:nvSpPr>
        <p:spPr bwMode="auto">
          <a:xfrm>
            <a:off x="395536" y="2102369"/>
            <a:ext cx="7779842"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None/>
              <a:tabLst/>
            </a:pPr>
            <a:r>
              <a:rPr kumimoji="0" lang="en-US" altLang="en-US" sz="1800" b="1" i="0" u="none" strike="noStrike" cap="none" normalizeH="0" baseline="0" dirty="0">
                <a:ln>
                  <a:noFill/>
                </a:ln>
                <a:solidFill>
                  <a:schemeClr val="tx1"/>
                </a:solidFill>
                <a:effectLst/>
                <a:latin typeface="Times New Roman" panose="02020603050405020304" pitchFamily="18" charset="0"/>
              </a:rPr>
              <a:t>UiPath Documentation</a:t>
            </a:r>
            <a:r>
              <a:rPr kumimoji="0" lang="en-US" altLang="en-US" sz="1800" b="0" i="0" u="none" strike="noStrike" cap="none" normalizeH="0" baseline="0" dirty="0">
                <a:ln>
                  <a:noFill/>
                </a:ln>
                <a:solidFill>
                  <a:schemeClr val="tx1"/>
                </a:solidFill>
                <a:effectLst/>
                <a:latin typeface="Times New Roman" panose="02020603050405020304" pitchFamily="18" charset="0"/>
              </a:rPr>
              <a:t>: For web scraping, email automation, and data integration.</a:t>
            </a:r>
            <a:br>
              <a:rPr kumimoji="0" lang="en-US" altLang="en-US" sz="1800" b="0" i="0" u="none" strike="noStrike" cap="none" normalizeH="0" baseline="0" dirty="0">
                <a:ln>
                  <a:noFill/>
                </a:ln>
                <a:solidFill>
                  <a:schemeClr val="tx1"/>
                </a:solidFill>
                <a:effectLst/>
                <a:latin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rPr>
              <a:t>https://docs.uipath.com</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1" i="0" u="none" strike="noStrike" cap="none" normalizeH="0" baseline="0" dirty="0" err="1">
                <a:ln>
                  <a:noFill/>
                </a:ln>
                <a:solidFill>
                  <a:schemeClr val="tx1"/>
                </a:solidFill>
                <a:effectLst/>
                <a:latin typeface="Times New Roman" panose="02020603050405020304" pitchFamily="18" charset="0"/>
              </a:rPr>
              <a:t>Knowafest</a:t>
            </a:r>
            <a:r>
              <a:rPr kumimoji="0" lang="en-US" altLang="en-US" sz="1800" b="1" i="0" u="none" strike="noStrike" cap="none" normalizeH="0" baseline="0" dirty="0">
                <a:ln>
                  <a:noFill/>
                </a:ln>
                <a:solidFill>
                  <a:schemeClr val="tx1"/>
                </a:solidFill>
                <a:effectLst/>
                <a:latin typeface="Times New Roman" panose="02020603050405020304" pitchFamily="18" charset="0"/>
              </a:rPr>
              <a:t> Website</a:t>
            </a:r>
            <a:r>
              <a:rPr kumimoji="0" lang="en-US" altLang="en-US" sz="1800" b="0" i="0" u="none" strike="noStrike" cap="none" normalizeH="0" baseline="0" dirty="0">
                <a:ln>
                  <a:noFill/>
                </a:ln>
                <a:solidFill>
                  <a:schemeClr val="tx1"/>
                </a:solidFill>
                <a:effectLst/>
                <a:latin typeface="Times New Roman" panose="02020603050405020304" pitchFamily="18" charset="0"/>
              </a:rPr>
              <a:t>: For event data extraction.</a:t>
            </a:r>
            <a:br>
              <a:rPr kumimoji="0" lang="en-US" altLang="en-US" sz="1800" b="0" i="0" u="none" strike="noStrike" cap="none" normalizeH="0" baseline="0" dirty="0">
                <a:ln>
                  <a:noFill/>
                </a:ln>
                <a:solidFill>
                  <a:schemeClr val="tx1"/>
                </a:solidFill>
                <a:effectLst/>
                <a:latin typeface="Times New Roman" panose="02020603050405020304" pitchFamily="18" charset="0"/>
              </a:rPr>
            </a:br>
            <a:r>
              <a:rPr kumimoji="0" lang="en-US" altLang="en-US" sz="1800" b="0" i="0" u="none" strike="noStrike" cap="none" normalizeH="0" baseline="0" dirty="0">
                <a:ln>
                  <a:noFill/>
                </a:ln>
                <a:solidFill>
                  <a:schemeClr val="tx1"/>
                </a:solidFill>
                <a:effectLst/>
                <a:latin typeface="Times New Roman" panose="02020603050405020304" pitchFamily="18" charset="0"/>
                <a:hlinkClick r:id="rId4"/>
              </a:rPr>
              <a:t>https://www.knowafest.com</a:t>
            </a:r>
            <a:r>
              <a:rPr kumimoji="0" lang="en-US" altLang="en-US" sz="1800" b="0" i="0" u="none" strike="noStrike" cap="none" normalizeH="0" baseline="0" dirty="0">
                <a:ln>
                  <a:noFill/>
                </a:ln>
                <a:solidFill>
                  <a:schemeClr val="tx1"/>
                </a:solidFill>
                <a:effectLst/>
                <a:latin typeface="Times New Roman" panose="02020603050405020304" pitchFamily="18" charset="0"/>
              </a:rPr>
              <a:t> </a:t>
            </a:r>
          </a:p>
        </p:txBody>
      </p:sp>
    </p:spTree>
    <p:custDataLst>
      <p:tags r:id="rId1"/>
    </p:custDataLst>
    <p:extLst>
      <p:ext uri="{BB962C8B-B14F-4D97-AF65-F5344CB8AC3E}">
        <p14:creationId xmlns:p14="http://schemas.microsoft.com/office/powerpoint/2010/main" val="193047478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2532822" y="2321005"/>
            <a:ext cx="4078361"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Queries</a:t>
            </a:r>
          </a:p>
        </p:txBody>
      </p:sp>
    </p:spTree>
    <p:extLst>
      <p:ext uri="{BB962C8B-B14F-4D97-AF65-F5344CB8AC3E}">
        <p14:creationId xmlns:p14="http://schemas.microsoft.com/office/powerpoint/2010/main" val="21918022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727460" y="2321005"/>
            <a:ext cx="7689093"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Demonstration</a:t>
            </a:r>
          </a:p>
        </p:txBody>
      </p:sp>
    </p:spTree>
    <p:extLst>
      <p:ext uri="{BB962C8B-B14F-4D97-AF65-F5344CB8AC3E}">
        <p14:creationId xmlns:p14="http://schemas.microsoft.com/office/powerpoint/2010/main" val="260636879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1844234" y="2321005"/>
            <a:ext cx="5455532" cy="1569660"/>
          </a:xfrm>
          <a:prstGeom prst="rect">
            <a:avLst/>
          </a:prstGeom>
          <a:noFill/>
        </p:spPr>
        <p:txBody>
          <a:bodyPr wrap="none" lIns="91440" tIns="45720" rIns="91440" bIns="45720">
            <a:spAutoFit/>
          </a:bodyPr>
          <a:lstStyle/>
          <a:p>
            <a:pPr algn="ctr"/>
            <a:r>
              <a:rPr lang="en-US" sz="9600" dirty="0">
                <a:ln w="0"/>
                <a:effectLst>
                  <a:outerShdw blurRad="38100" dist="19050" dir="2700000" algn="tl" rotWithShape="0">
                    <a:schemeClr val="dk1">
                      <a:alpha val="40000"/>
                    </a:schemeClr>
                  </a:outerShdw>
                </a:effectLst>
              </a:rPr>
              <a:t>Thank You</a:t>
            </a:r>
          </a:p>
        </p:txBody>
      </p:sp>
    </p:spTree>
    <p:extLst>
      <p:ext uri="{BB962C8B-B14F-4D97-AF65-F5344CB8AC3E}">
        <p14:creationId xmlns:p14="http://schemas.microsoft.com/office/powerpoint/2010/main" val="207485784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IMING" val="|1.1|4|2.4|1.4"/>
</p:tagLst>
</file>

<file path=ppt/tags/tag2.xml><?xml version="1.0" encoding="utf-8"?>
<p:tagLst xmlns:a="http://schemas.openxmlformats.org/drawingml/2006/main" xmlns:r="http://schemas.openxmlformats.org/officeDocument/2006/relationships" xmlns:p="http://schemas.openxmlformats.org/presentationml/2006/main">
  <p:tag name="TIMING" val="|1.1|4|2.4|1.4"/>
</p:tagLst>
</file>

<file path=ppt/tags/tag3.xml><?xml version="1.0" encoding="utf-8"?>
<p:tagLst xmlns:a="http://schemas.openxmlformats.org/drawingml/2006/main" xmlns:r="http://schemas.openxmlformats.org/officeDocument/2006/relationships" xmlns:p="http://schemas.openxmlformats.org/presentationml/2006/main">
  <p:tag name="TIMING" val="|1.1|4|2.4|1.4"/>
</p:tagLst>
</file>

<file path=ppt/tags/tag4.xml><?xml version="1.0" encoding="utf-8"?>
<p:tagLst xmlns:a="http://schemas.openxmlformats.org/drawingml/2006/main" xmlns:r="http://schemas.openxmlformats.org/officeDocument/2006/relationships" xmlns:p="http://schemas.openxmlformats.org/presentationml/2006/main">
  <p:tag name="TIMING" val="|1.1|4|2.4|1.4"/>
</p:tagLst>
</file>

<file path=ppt/tags/tag5.xml><?xml version="1.0" encoding="utf-8"?>
<p:tagLst xmlns:a="http://schemas.openxmlformats.org/drawingml/2006/main" xmlns:r="http://schemas.openxmlformats.org/officeDocument/2006/relationships" xmlns:p="http://schemas.openxmlformats.org/presentationml/2006/main">
  <p:tag name="TIMING" val="|1.1|4|2.4|1.4"/>
</p:tagLst>
</file>

<file path=ppt/tags/tag6.xml><?xml version="1.0" encoding="utf-8"?>
<p:tagLst xmlns:a="http://schemas.openxmlformats.org/drawingml/2006/main" xmlns:r="http://schemas.openxmlformats.org/officeDocument/2006/relationships" xmlns:p="http://schemas.openxmlformats.org/presentationml/2006/main">
  <p:tag name="TIMING" val="|1.1|4|2.4|1.4"/>
</p:tagLst>
</file>

<file path=ppt/tags/tag7.xml><?xml version="1.0" encoding="utf-8"?>
<p:tagLst xmlns:a="http://schemas.openxmlformats.org/drawingml/2006/main" xmlns:r="http://schemas.openxmlformats.org/officeDocument/2006/relationships" xmlns:p="http://schemas.openxmlformats.org/presentationml/2006/main">
  <p:tag name="TIMING" val="|1.1|4|2.4|1.4"/>
</p:tagLst>
</file>

<file path=ppt/tags/tag8.xml><?xml version="1.0" encoding="utf-8"?>
<p:tagLst xmlns:a="http://schemas.openxmlformats.org/drawingml/2006/main" xmlns:r="http://schemas.openxmlformats.org/officeDocument/2006/relationships" xmlns:p="http://schemas.openxmlformats.org/presentationml/2006/main">
  <p:tag name="TIMING" val="|1.1|4|2.4|1.4"/>
</p:tagLst>
</file>

<file path=ppt/tags/tag9.xml><?xml version="1.0" encoding="utf-8"?>
<p:tagLst xmlns:a="http://schemas.openxmlformats.org/drawingml/2006/main" xmlns:r="http://schemas.openxmlformats.org/officeDocument/2006/relationships" xmlns:p="http://schemas.openxmlformats.org/presentationml/2006/main">
  <p:tag name="TIMING" val="|1.1|4|2.4|1.4"/>
</p:tagLst>
</file>

<file path=ppt/tags/tag10.xml><?xml version="1.0" encoding="utf-8"?>
<p:tagLst xmlns:a="http://schemas.openxmlformats.org/drawingml/2006/main" xmlns:r="http://schemas.openxmlformats.org/officeDocument/2006/relationships" xmlns:p="http://schemas.openxmlformats.org/presentationml/2006/main">
  <p:tag name="TIMING" val="|1.1|4|2.4|1.4"/>
</p:tagLst>
</file>

<file path=ppt/tags/tag11.xml><?xml version="1.0" encoding="utf-8"?>
<p:tagLst xmlns:a="http://schemas.openxmlformats.org/drawingml/2006/main" xmlns:r="http://schemas.openxmlformats.org/officeDocument/2006/relationships" xmlns:p="http://schemas.openxmlformats.org/presentationml/2006/main">
  <p:tag name="TIMING" val="|1.1|4|2.4|1.4"/>
</p:tagLst>
</file>

<file path=ppt/tags/tag12.xml><?xml version="1.0" encoding="utf-8"?>
<p:tagLst xmlns:a="http://schemas.openxmlformats.org/drawingml/2006/main" xmlns:r="http://schemas.openxmlformats.org/officeDocument/2006/relationships" xmlns:p="http://schemas.openxmlformats.org/presentationml/2006/main">
  <p:tag name="TIMING" val="|1.1|4|2.4|1.4"/>
</p:tagLst>
</file>

<file path=ppt/tags/tag13.xml><?xml version="1.0" encoding="utf-8"?>
<p:tagLst xmlns:a="http://schemas.openxmlformats.org/drawingml/2006/main" xmlns:r="http://schemas.openxmlformats.org/officeDocument/2006/relationships" xmlns:p="http://schemas.openxmlformats.org/presentationml/2006/main">
  <p:tag name="TIMING" val="|1.1|4|2.4|1.4"/>
</p:tagLst>
</file>

<file path=ppt/tags/tag14.xml><?xml version="1.0" encoding="utf-8"?>
<p:tagLst xmlns:a="http://schemas.openxmlformats.org/drawingml/2006/main" xmlns:r="http://schemas.openxmlformats.org/officeDocument/2006/relationships" xmlns:p="http://schemas.openxmlformats.org/presentationml/2006/main">
  <p:tag name="TIMING" val="|1.1|4|2.4|1.4"/>
</p:tagLst>
</file>

<file path=ppt/tags/tag15.xml><?xml version="1.0" encoding="utf-8"?>
<p:tagLst xmlns:a="http://schemas.openxmlformats.org/drawingml/2006/main" xmlns:r="http://schemas.openxmlformats.org/officeDocument/2006/relationships" xmlns:p="http://schemas.openxmlformats.org/presentationml/2006/main">
  <p:tag name="TIMING" val="|1.1|4|2.4|1.4"/>
</p:tagLst>
</file>

<file path=ppt/tags/tag16.xml><?xml version="1.0" encoding="utf-8"?>
<p:tagLst xmlns:a="http://schemas.openxmlformats.org/drawingml/2006/main" xmlns:r="http://schemas.openxmlformats.org/officeDocument/2006/relationships" xmlns:p="http://schemas.openxmlformats.org/presentationml/2006/main">
  <p:tag name="TIMING" val="|1.1|4|2.4|1.4"/>
</p:tagLst>
</file>

<file path=ppt/tags/tag17.xml><?xml version="1.0" encoding="utf-8"?>
<p:tagLst xmlns:a="http://schemas.openxmlformats.org/drawingml/2006/main" xmlns:r="http://schemas.openxmlformats.org/officeDocument/2006/relationships" xmlns:p="http://schemas.openxmlformats.org/presentationml/2006/main">
  <p:tag name="TIMING" val="|1.1|4|2.4|1.4"/>
</p:tagLst>
</file>

<file path=ppt/tags/tag18.xml><?xml version="1.0" encoding="utf-8"?>
<p:tagLst xmlns:a="http://schemas.openxmlformats.org/drawingml/2006/main" xmlns:r="http://schemas.openxmlformats.org/officeDocument/2006/relationships" xmlns:p="http://schemas.openxmlformats.org/presentationml/2006/main">
  <p:tag name="TIMING" val="|1.1|4|2.4|1.4"/>
</p:tagLst>
</file>

<file path=ppt/tags/tag19.xml><?xml version="1.0" encoding="utf-8"?>
<p:tagLst xmlns:a="http://schemas.openxmlformats.org/drawingml/2006/main" xmlns:r="http://schemas.openxmlformats.org/officeDocument/2006/relationships" xmlns:p="http://schemas.openxmlformats.org/presentationml/2006/main">
  <p:tag name="TIMING" val="|1.1|4|2.4|1.4"/>
</p:tagLst>
</file>

<file path=ppt/tags/tag20.xml><?xml version="1.0" encoding="utf-8"?>
<p:tagLst xmlns:a="http://schemas.openxmlformats.org/drawingml/2006/main" xmlns:r="http://schemas.openxmlformats.org/officeDocument/2006/relationships" xmlns:p="http://schemas.openxmlformats.org/presentationml/2006/main">
  <p:tag name="TIMING" val="|1.1|4|2.4|1.4"/>
</p:tagLst>
</file>

<file path=ppt/tags/tag21.xml><?xml version="1.0" encoding="utf-8"?>
<p:tagLst xmlns:a="http://schemas.openxmlformats.org/drawingml/2006/main" xmlns:r="http://schemas.openxmlformats.org/officeDocument/2006/relationships" xmlns:p="http://schemas.openxmlformats.org/presentationml/2006/main">
  <p:tag name="TIMING" val="|1.1|4|2.4|1.4"/>
</p:tagLst>
</file>

<file path=ppt/tags/tag22.xml><?xml version="1.0" encoding="utf-8"?>
<p:tagLst xmlns:a="http://schemas.openxmlformats.org/drawingml/2006/main" xmlns:r="http://schemas.openxmlformats.org/officeDocument/2006/relationships" xmlns:p="http://schemas.openxmlformats.org/presentationml/2006/main">
  <p:tag name="TIMING" val="|1.1|4|2.4|1.4"/>
</p:tagLst>
</file>

<file path=ppt/tags/tag23.xml><?xml version="1.0" encoding="utf-8"?>
<p:tagLst xmlns:a="http://schemas.openxmlformats.org/drawingml/2006/main" xmlns:r="http://schemas.openxmlformats.org/officeDocument/2006/relationships" xmlns:p="http://schemas.openxmlformats.org/presentationml/2006/main">
  <p:tag name="TIMING" val="|1.1|4|2.4|1.4"/>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9258</TotalTime>
  <Words>1176</Words>
  <Application>Microsoft Office PowerPoint</Application>
  <PresentationFormat>On-screen Show (4:3)</PresentationFormat>
  <Paragraphs>152</Paragraphs>
  <Slides>27</Slides>
  <Notes>26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27</vt:i4>
      </vt:variant>
    </vt:vector>
  </HeadingPairs>
  <TitlesOfParts>
    <vt:vector size="33" baseType="lpstr">
      <vt:lpstr>Arial</vt:lpstr>
      <vt:lpstr>Calibri</vt:lpstr>
      <vt:lpstr>Open Sans Extrabold</vt:lpstr>
      <vt:lpstr>Times New Roman</vt:lpstr>
      <vt:lpstr>Wingdings</vt:lpstr>
      <vt:lpstr>Office Theme</vt:lpstr>
      <vt:lpstr>PowerPoint Presentation</vt:lpstr>
      <vt:lpstr>Abstract</vt:lpstr>
      <vt:lpstr>Need for the Proposed System</vt:lpstr>
      <vt:lpstr>Advantages of the Proposed System</vt:lpstr>
      <vt:lpstr>Literature Survey</vt:lpstr>
      <vt:lpstr>Main Objective</vt:lpstr>
      <vt:lpstr>Architecture</vt:lpstr>
      <vt:lpstr>System Requirements</vt:lpstr>
      <vt:lpstr>Functional Description</vt:lpstr>
      <vt:lpstr>Functional Description</vt:lpstr>
      <vt:lpstr>Functional Description</vt:lpstr>
      <vt:lpstr>Functional Description</vt:lpstr>
      <vt:lpstr>Table Design</vt:lpstr>
      <vt:lpstr>Process Design</vt:lpstr>
      <vt:lpstr>Process Design</vt:lpstr>
      <vt:lpstr>Implementation</vt:lpstr>
      <vt:lpstr>Implementation</vt:lpstr>
      <vt:lpstr>Implementation</vt:lpstr>
      <vt:lpstr>Implementation</vt:lpstr>
      <vt:lpstr>Testing</vt:lpstr>
      <vt:lpstr>Testing</vt:lpstr>
      <vt:lpstr>Conclusions</vt:lpstr>
      <vt:lpstr>Future Enhancement</vt:lpstr>
      <vt:lpstr>References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SHRIRAM</dc:creator>
  <cp:lastModifiedBy>220701054@rajalakshmi.edu.in</cp:lastModifiedBy>
  <cp:revision>1751</cp:revision>
  <dcterms:created xsi:type="dcterms:W3CDTF">2013-05-17T03:00:03Z</dcterms:created>
  <dcterms:modified xsi:type="dcterms:W3CDTF">2024-11-22T07:25:56Z</dcterms:modified>
</cp:coreProperties>
</file>